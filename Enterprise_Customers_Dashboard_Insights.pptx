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7315200" y="137160"/>
            <a:ext cx="4297680" cy="1920240"/>
          </a:xfrm>
          <a:prstGeom prst="arc">
            <a:avLst/>
          </a:prstGeom>
          <a:noFill/>
          <a:ln w="13970">
            <a:solidFill>
              <a:srgbClr val="0A3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406640" y="169164"/>
            <a:ext cx="4297680" cy="1920240"/>
          </a:xfrm>
          <a:prstGeom prst="arc">
            <a:avLst/>
          </a:prstGeom>
          <a:noFill/>
          <a:ln w="13970">
            <a:solidFill>
              <a:srgbClr val="0C3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498079" y="201168"/>
            <a:ext cx="4297680" cy="1920240"/>
          </a:xfrm>
          <a:prstGeom prst="arc">
            <a:avLst/>
          </a:prstGeom>
          <a:noFill/>
          <a:ln w="13970">
            <a:solidFill>
              <a:srgbClr val="0E4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7589520" y="233172"/>
            <a:ext cx="4297680" cy="1920240"/>
          </a:xfrm>
          <a:prstGeom prst="arc">
            <a:avLst/>
          </a:prstGeom>
          <a:noFill/>
          <a:ln w="13970">
            <a:solidFill>
              <a:srgbClr val="10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7680960" y="265176"/>
            <a:ext cx="4297680" cy="1920240"/>
          </a:xfrm>
          <a:prstGeom prst="arc">
            <a:avLst/>
          </a:prstGeom>
          <a:noFill/>
          <a:ln w="13970">
            <a:solidFill>
              <a:srgbClr val="124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7772400" y="297180"/>
            <a:ext cx="4297680" cy="1920240"/>
          </a:xfrm>
          <a:prstGeom prst="arc">
            <a:avLst/>
          </a:prstGeom>
          <a:noFill/>
          <a:ln w="13970">
            <a:solidFill>
              <a:srgbClr val="144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7863840" y="329184"/>
            <a:ext cx="4297680" cy="1920240"/>
          </a:xfrm>
          <a:prstGeom prst="arc">
            <a:avLst/>
          </a:prstGeom>
          <a:noFill/>
          <a:ln w="13970">
            <a:solidFill>
              <a:srgbClr val="165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7955279" y="361188"/>
            <a:ext cx="4297680" cy="1920240"/>
          </a:xfrm>
          <a:prstGeom prst="arc">
            <a:avLst/>
          </a:prstGeom>
          <a:noFill/>
          <a:ln w="13970">
            <a:solidFill>
              <a:srgbClr val="185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384048"/>
            <a:ext cx="64008" cy="530352"/>
          </a:xfrm>
          <a:prstGeom prst="rect">
            <a:avLst/>
          </a:prstGeom>
          <a:solidFill>
            <a:srgbClr val="5C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9CCCF"/>
                </a:solidFill>
                <a:latin typeface="Aptos"/>
              </a:defRPr>
            </a:pPr>
            <a:r>
              <a:t>INSIGHTS /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9184"/>
            <a:ext cx="109728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500" b="1">
                <a:solidFill>
                  <a:srgbClr val="F4F9FA"/>
                </a:solidFill>
                <a:latin typeface="Aptos"/>
              </a:defRPr>
            </a:pPr>
            <a:r>
              <a:t>Department Mix — Employee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886968"/>
            <a:ext cx="98755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31BEA6"/>
                </a:solidFill>
                <a:latin typeface="Aptos"/>
              </a:defRPr>
            </a:pPr>
            <a:r>
              <a:t>CHART 01 • DEPARTMENT COMPOSITION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1417320"/>
            <a:ext cx="5806440" cy="4773168"/>
          </a:xfrm>
          <a:prstGeom prst="roundRect">
            <a:avLst/>
          </a:prstGeom>
          <a:solidFill>
            <a:srgbClr val="091C1F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609344"/>
            <a:ext cx="53035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B9CCCF"/>
                </a:solidFill>
                <a:latin typeface="Aptos"/>
              </a:defRPr>
            </a:pPr>
            <a:r>
              <a:t>DASHBOARD VISUAL</a:t>
            </a:r>
          </a:p>
        </p:txBody>
      </p:sp>
      <p:pic>
        <p:nvPicPr>
          <p:cNvPr id="17" name="Picture 16" descr="department_tre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566857"/>
            <a:ext cx="5321808" cy="77584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01968" y="1417320"/>
            <a:ext cx="5074920" cy="4773168"/>
          </a:xfrm>
          <a:prstGeom prst="roundRect">
            <a:avLst/>
          </a:prstGeom>
          <a:solidFill>
            <a:srgbClr val="0E272B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664208"/>
            <a:ext cx="44805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31BEA6"/>
                </a:solidFill>
                <a:latin typeface="Aptos"/>
              </a:defRPr>
            </a:pPr>
            <a:r>
              <a:t>WHAT THIS VISUAL TELLS US</a:t>
            </a:r>
          </a:p>
        </p:txBody>
      </p:sp>
      <p:sp>
        <p:nvSpPr>
          <p:cNvPr id="20" name="Oval 19"/>
          <p:cNvSpPr/>
          <p:nvPr/>
        </p:nvSpPr>
        <p:spPr>
          <a:xfrm>
            <a:off x="6931152" y="2295144"/>
            <a:ext cx="91440" cy="91440"/>
          </a:xfrm>
          <a:prstGeom prst="ellipse">
            <a:avLst/>
          </a:prstGeom>
          <a:solidFill>
            <a:srgbClr val="FFC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2212848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The visual compares employee totals across Human Resource, Finance, Sales and Account departments.</a:t>
            </a:r>
          </a:p>
        </p:txBody>
      </p:sp>
      <p:sp>
        <p:nvSpPr>
          <p:cNvPr id="22" name="Oval 21"/>
          <p:cNvSpPr/>
          <p:nvPr/>
        </p:nvSpPr>
        <p:spPr>
          <a:xfrm>
            <a:off x="6931152" y="3044951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2962656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The width of each colored block represents its relative contribution to the displayed total.</a:t>
            </a:r>
          </a:p>
        </p:txBody>
      </p:sp>
      <p:sp>
        <p:nvSpPr>
          <p:cNvPr id="24" name="Oval 23"/>
          <p:cNvSpPr/>
          <p:nvPr/>
        </p:nvSpPr>
        <p:spPr>
          <a:xfrm>
            <a:off x="6931152" y="3794759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3712463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Sales and Human Resource appear among the larger blocks, while Finance and Accounts remain substantial contributors.</a:t>
            </a:r>
          </a:p>
        </p:txBody>
      </p:sp>
      <p:sp>
        <p:nvSpPr>
          <p:cNvPr id="26" name="Oval 25"/>
          <p:cNvSpPr/>
          <p:nvPr/>
        </p:nvSpPr>
        <p:spPr>
          <a:xfrm>
            <a:off x="6931152" y="4544568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4462272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Use this view to spot concentration and support high-level workforce planning.</a:t>
            </a:r>
          </a:p>
        </p:txBody>
      </p:sp>
      <p:sp>
        <p:nvSpPr>
          <p:cNvPr id="28" name="Oval 27"/>
          <p:cNvSpPr/>
          <p:nvPr/>
        </p:nvSpPr>
        <p:spPr>
          <a:xfrm>
            <a:off x="6931152" y="5294376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5212080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Confirm exact headcounts in the underlying report before staffing decisions.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281928"/>
            <a:ext cx="10149840" cy="320040"/>
          </a:xfrm>
          <a:prstGeom prst="roundRect">
            <a:avLst/>
          </a:prstGeom>
          <a:solidFill>
            <a:srgbClr val="103839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00216"/>
            <a:ext cx="9784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4F9FA"/>
                </a:solidFill>
                <a:latin typeface="Aptos"/>
              </a:defRPr>
            </a:pPr>
            <a:r>
              <a:t>KEY TAKEAWAY  •  Department mix gives a fast snapshot of workforce distribution.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7315200" y="137160"/>
            <a:ext cx="4297680" cy="1920240"/>
          </a:xfrm>
          <a:prstGeom prst="arc">
            <a:avLst/>
          </a:prstGeom>
          <a:noFill/>
          <a:ln w="13970">
            <a:solidFill>
              <a:srgbClr val="0A3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406640" y="169164"/>
            <a:ext cx="4297680" cy="1920240"/>
          </a:xfrm>
          <a:prstGeom prst="arc">
            <a:avLst/>
          </a:prstGeom>
          <a:noFill/>
          <a:ln w="13970">
            <a:solidFill>
              <a:srgbClr val="0C3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498079" y="201168"/>
            <a:ext cx="4297680" cy="1920240"/>
          </a:xfrm>
          <a:prstGeom prst="arc">
            <a:avLst/>
          </a:prstGeom>
          <a:noFill/>
          <a:ln w="13970">
            <a:solidFill>
              <a:srgbClr val="0E4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7589520" y="233172"/>
            <a:ext cx="4297680" cy="1920240"/>
          </a:xfrm>
          <a:prstGeom prst="arc">
            <a:avLst/>
          </a:prstGeom>
          <a:noFill/>
          <a:ln w="13970">
            <a:solidFill>
              <a:srgbClr val="10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7680960" y="265176"/>
            <a:ext cx="4297680" cy="1920240"/>
          </a:xfrm>
          <a:prstGeom prst="arc">
            <a:avLst/>
          </a:prstGeom>
          <a:noFill/>
          <a:ln w="13970">
            <a:solidFill>
              <a:srgbClr val="124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7772400" y="297180"/>
            <a:ext cx="4297680" cy="1920240"/>
          </a:xfrm>
          <a:prstGeom prst="arc">
            <a:avLst/>
          </a:prstGeom>
          <a:noFill/>
          <a:ln w="13970">
            <a:solidFill>
              <a:srgbClr val="144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7863840" y="329184"/>
            <a:ext cx="4297680" cy="1920240"/>
          </a:xfrm>
          <a:prstGeom prst="arc">
            <a:avLst/>
          </a:prstGeom>
          <a:noFill/>
          <a:ln w="13970">
            <a:solidFill>
              <a:srgbClr val="165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7955279" y="361188"/>
            <a:ext cx="4297680" cy="1920240"/>
          </a:xfrm>
          <a:prstGeom prst="arc">
            <a:avLst/>
          </a:prstGeom>
          <a:noFill/>
          <a:ln w="13970">
            <a:solidFill>
              <a:srgbClr val="185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384048"/>
            <a:ext cx="64008" cy="530352"/>
          </a:xfrm>
          <a:prstGeom prst="rect">
            <a:avLst/>
          </a:prstGeom>
          <a:solidFill>
            <a:srgbClr val="5C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9CCCF"/>
                </a:solidFill>
                <a:latin typeface="Aptos"/>
              </a:defRPr>
            </a:pPr>
            <a:r>
              <a:t>INSIGHTS /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9184"/>
            <a:ext cx="109728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500" b="1">
                <a:solidFill>
                  <a:srgbClr val="F4F9FA"/>
                </a:solidFill>
                <a:latin typeface="Aptos"/>
              </a:defRPr>
            </a:pPr>
            <a:r>
              <a:t>Index Gauge — Overall Index 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886968"/>
            <a:ext cx="98755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31BEA6"/>
                </a:solidFill>
                <a:latin typeface="Aptos"/>
              </a:defRPr>
            </a:pPr>
            <a:r>
              <a:t>CHART 02 • GAUGE KPI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1417320"/>
            <a:ext cx="5806440" cy="4773168"/>
          </a:xfrm>
          <a:prstGeom prst="roundRect">
            <a:avLst/>
          </a:prstGeom>
          <a:solidFill>
            <a:srgbClr val="091C1F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609344"/>
            <a:ext cx="53035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B9CCCF"/>
                </a:solidFill>
                <a:latin typeface="Aptos"/>
              </a:defRPr>
            </a:pPr>
            <a:r>
              <a:t>DASHBOARD VISUAL</a:t>
            </a:r>
          </a:p>
        </p:txBody>
      </p:sp>
      <p:pic>
        <p:nvPicPr>
          <p:cNvPr id="17" name="Picture 16" descr="index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408193"/>
            <a:ext cx="5321808" cy="1093173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01968" y="1417320"/>
            <a:ext cx="5074920" cy="4773168"/>
          </a:xfrm>
          <a:prstGeom prst="roundRect">
            <a:avLst/>
          </a:prstGeom>
          <a:solidFill>
            <a:srgbClr val="0E272B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664208"/>
            <a:ext cx="44805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31BEA6"/>
                </a:solidFill>
                <a:latin typeface="Aptos"/>
              </a:defRPr>
            </a:pPr>
            <a:r>
              <a:t>WHAT THIS VISUAL TELLS US</a:t>
            </a:r>
          </a:p>
        </p:txBody>
      </p:sp>
      <p:sp>
        <p:nvSpPr>
          <p:cNvPr id="20" name="Oval 19"/>
          <p:cNvSpPr/>
          <p:nvPr/>
        </p:nvSpPr>
        <p:spPr>
          <a:xfrm>
            <a:off x="6931152" y="2295144"/>
            <a:ext cx="91440" cy="91440"/>
          </a:xfrm>
          <a:prstGeom prst="ellipse">
            <a:avLst/>
          </a:prstGeom>
          <a:solidFill>
            <a:srgbClr val="FFC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2212848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The gauge displays an index value of approximately 501K on a 0M–1M scale.</a:t>
            </a:r>
          </a:p>
        </p:txBody>
      </p:sp>
      <p:sp>
        <p:nvSpPr>
          <p:cNvPr id="22" name="Oval 21"/>
          <p:cNvSpPr/>
          <p:nvPr/>
        </p:nvSpPr>
        <p:spPr>
          <a:xfrm>
            <a:off x="6931152" y="3044951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2962656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The indicator sits around the midpoint of the displayed range.</a:t>
            </a:r>
          </a:p>
        </p:txBody>
      </p:sp>
      <p:sp>
        <p:nvSpPr>
          <p:cNvPr id="24" name="Oval 23"/>
          <p:cNvSpPr/>
          <p:nvPr/>
        </p:nvSpPr>
        <p:spPr>
          <a:xfrm>
            <a:off x="6931152" y="3794759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3712463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A gauge is useful when stakeholders need an at-a-glance status against a defined scale.</a:t>
            </a:r>
          </a:p>
        </p:txBody>
      </p:sp>
      <p:sp>
        <p:nvSpPr>
          <p:cNvPr id="26" name="Oval 25"/>
          <p:cNvSpPr/>
          <p:nvPr/>
        </p:nvSpPr>
        <p:spPr>
          <a:xfrm>
            <a:off x="6931152" y="4544568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4462272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The source image does not show a target or threshold, so the value cannot be labelled good or bad.</a:t>
            </a:r>
          </a:p>
        </p:txBody>
      </p:sp>
      <p:sp>
        <p:nvSpPr>
          <p:cNvPr id="28" name="Oval 27"/>
          <p:cNvSpPr/>
          <p:nvPr/>
        </p:nvSpPr>
        <p:spPr>
          <a:xfrm>
            <a:off x="6931152" y="5294376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5212080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Add target bands or historical comparisons to make the KPI more actionable.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281928"/>
            <a:ext cx="10149840" cy="320040"/>
          </a:xfrm>
          <a:prstGeom prst="roundRect">
            <a:avLst/>
          </a:prstGeom>
          <a:solidFill>
            <a:srgbClr val="103839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00216"/>
            <a:ext cx="9784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4F9FA"/>
                </a:solidFill>
                <a:latin typeface="Aptos"/>
              </a:defRPr>
            </a:pPr>
            <a:r>
              <a:t>KEY TAKEAWAY  •  The index is near the middle of the gauge range; a benchmark adds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7315200" y="137160"/>
            <a:ext cx="4297680" cy="1920240"/>
          </a:xfrm>
          <a:prstGeom prst="arc">
            <a:avLst/>
          </a:prstGeom>
          <a:noFill/>
          <a:ln w="13970">
            <a:solidFill>
              <a:srgbClr val="0A3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406640" y="169164"/>
            <a:ext cx="4297680" cy="1920240"/>
          </a:xfrm>
          <a:prstGeom prst="arc">
            <a:avLst/>
          </a:prstGeom>
          <a:noFill/>
          <a:ln w="13970">
            <a:solidFill>
              <a:srgbClr val="0C3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498079" y="201168"/>
            <a:ext cx="4297680" cy="1920240"/>
          </a:xfrm>
          <a:prstGeom prst="arc">
            <a:avLst/>
          </a:prstGeom>
          <a:noFill/>
          <a:ln w="13970">
            <a:solidFill>
              <a:srgbClr val="0E4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7589520" y="233172"/>
            <a:ext cx="4297680" cy="1920240"/>
          </a:xfrm>
          <a:prstGeom prst="arc">
            <a:avLst/>
          </a:prstGeom>
          <a:noFill/>
          <a:ln w="13970">
            <a:solidFill>
              <a:srgbClr val="10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7680960" y="265176"/>
            <a:ext cx="4297680" cy="1920240"/>
          </a:xfrm>
          <a:prstGeom prst="arc">
            <a:avLst/>
          </a:prstGeom>
          <a:noFill/>
          <a:ln w="13970">
            <a:solidFill>
              <a:srgbClr val="124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7772400" y="297180"/>
            <a:ext cx="4297680" cy="1920240"/>
          </a:xfrm>
          <a:prstGeom prst="arc">
            <a:avLst/>
          </a:prstGeom>
          <a:noFill/>
          <a:ln w="13970">
            <a:solidFill>
              <a:srgbClr val="144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7863840" y="329184"/>
            <a:ext cx="4297680" cy="1920240"/>
          </a:xfrm>
          <a:prstGeom prst="arc">
            <a:avLst/>
          </a:prstGeom>
          <a:noFill/>
          <a:ln w="13970">
            <a:solidFill>
              <a:srgbClr val="165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7955279" y="361188"/>
            <a:ext cx="4297680" cy="1920240"/>
          </a:xfrm>
          <a:prstGeom prst="arc">
            <a:avLst/>
          </a:prstGeom>
          <a:noFill/>
          <a:ln w="13970">
            <a:solidFill>
              <a:srgbClr val="185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384048"/>
            <a:ext cx="64008" cy="530352"/>
          </a:xfrm>
          <a:prstGeom prst="rect">
            <a:avLst/>
          </a:prstGeom>
          <a:solidFill>
            <a:srgbClr val="5C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9CCCF"/>
                </a:solidFill>
                <a:latin typeface="Aptos"/>
              </a:defRPr>
            </a:pPr>
            <a:r>
              <a:t>INSIGHTS /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9184"/>
            <a:ext cx="109728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500" b="1">
                <a:solidFill>
                  <a:srgbClr val="F4F9FA"/>
                </a:solidFill>
                <a:latin typeface="Aptos"/>
              </a:defRPr>
            </a:pPr>
            <a:r>
              <a:t>KPI — Contract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886968"/>
            <a:ext cx="98755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31BEA6"/>
                </a:solidFill>
                <a:latin typeface="Aptos"/>
              </a:defRPr>
            </a:pPr>
            <a:r>
              <a:t>KPI 01 • COMMERCIAL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1417320"/>
            <a:ext cx="5806440" cy="4773168"/>
          </a:xfrm>
          <a:prstGeom prst="roundRect">
            <a:avLst/>
          </a:prstGeom>
          <a:solidFill>
            <a:srgbClr val="091C1F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609344"/>
            <a:ext cx="53035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B9CCCF"/>
                </a:solidFill>
                <a:latin typeface="Aptos"/>
              </a:defRPr>
            </a:pPr>
            <a:r>
              <a:t>DASHBOARD VISUAL</a:t>
            </a:r>
          </a:p>
        </p:txBody>
      </p:sp>
      <p:pic>
        <p:nvPicPr>
          <p:cNvPr id="17" name="Picture 16" descr="contract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245932"/>
            <a:ext cx="5321808" cy="141769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01968" y="1417320"/>
            <a:ext cx="5074920" cy="4773168"/>
          </a:xfrm>
          <a:prstGeom prst="roundRect">
            <a:avLst/>
          </a:prstGeom>
          <a:solidFill>
            <a:srgbClr val="0E272B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664208"/>
            <a:ext cx="44805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31BEA6"/>
                </a:solidFill>
                <a:latin typeface="Aptos"/>
              </a:defRPr>
            </a:pPr>
            <a:r>
              <a:t>WHAT THIS VISUAL TELLS US</a:t>
            </a:r>
          </a:p>
        </p:txBody>
      </p:sp>
      <p:sp>
        <p:nvSpPr>
          <p:cNvPr id="20" name="Oval 19"/>
          <p:cNvSpPr/>
          <p:nvPr/>
        </p:nvSpPr>
        <p:spPr>
          <a:xfrm>
            <a:off x="6931152" y="2295144"/>
            <a:ext cx="91440" cy="91440"/>
          </a:xfrm>
          <a:prstGeom prst="ellipse">
            <a:avLst/>
          </a:prstGeom>
          <a:solidFill>
            <a:srgbClr val="FFC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2212848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The card reports a summed contract value of 497K.</a:t>
            </a:r>
          </a:p>
        </p:txBody>
      </p:sp>
      <p:sp>
        <p:nvSpPr>
          <p:cNvPr id="22" name="Oval 21"/>
          <p:cNvSpPr/>
          <p:nvPr/>
        </p:nvSpPr>
        <p:spPr>
          <a:xfrm>
            <a:off x="6931152" y="3044951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2962656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It provides a concise view of contract value represented in the current report context.</a:t>
            </a:r>
          </a:p>
        </p:txBody>
      </p:sp>
      <p:sp>
        <p:nvSpPr>
          <p:cNvPr id="24" name="Oval 23"/>
          <p:cNvSpPr/>
          <p:nvPr/>
        </p:nvSpPr>
        <p:spPr>
          <a:xfrm>
            <a:off x="6931152" y="3794759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3712463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Compare it with revenue, customer count and time-period trends to understand commercial scale.</a:t>
            </a:r>
          </a:p>
        </p:txBody>
      </p:sp>
      <p:sp>
        <p:nvSpPr>
          <p:cNvPr id="26" name="Oval 25"/>
          <p:cNvSpPr/>
          <p:nvPr/>
        </p:nvSpPr>
        <p:spPr>
          <a:xfrm>
            <a:off x="6931152" y="4544568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4462272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A sum can be influenced by currency, date range and repeated records.</a:t>
            </a:r>
          </a:p>
        </p:txBody>
      </p:sp>
      <p:sp>
        <p:nvSpPr>
          <p:cNvPr id="28" name="Oval 27"/>
          <p:cNvSpPr/>
          <p:nvPr/>
        </p:nvSpPr>
        <p:spPr>
          <a:xfrm>
            <a:off x="6931152" y="5294376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5212080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Validate the currency and aggregation level before external reporting.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281928"/>
            <a:ext cx="10149840" cy="320040"/>
          </a:xfrm>
          <a:prstGeom prst="roundRect">
            <a:avLst/>
          </a:prstGeom>
          <a:solidFill>
            <a:srgbClr val="103839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00216"/>
            <a:ext cx="9784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4F9FA"/>
                </a:solidFill>
                <a:latin typeface="Aptos"/>
              </a:defRPr>
            </a:pPr>
            <a:r>
              <a:t>KEY TAKEAWAY  •  Contract value is displayed as 497K; confirm currency and reporting period.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7315200" y="137160"/>
            <a:ext cx="4297680" cy="1920240"/>
          </a:xfrm>
          <a:prstGeom prst="arc">
            <a:avLst/>
          </a:prstGeom>
          <a:noFill/>
          <a:ln w="13970">
            <a:solidFill>
              <a:srgbClr val="0A3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406640" y="169164"/>
            <a:ext cx="4297680" cy="1920240"/>
          </a:xfrm>
          <a:prstGeom prst="arc">
            <a:avLst/>
          </a:prstGeom>
          <a:noFill/>
          <a:ln w="13970">
            <a:solidFill>
              <a:srgbClr val="0C3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498079" y="201168"/>
            <a:ext cx="4297680" cy="1920240"/>
          </a:xfrm>
          <a:prstGeom prst="arc">
            <a:avLst/>
          </a:prstGeom>
          <a:noFill/>
          <a:ln w="13970">
            <a:solidFill>
              <a:srgbClr val="0E4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7589520" y="233172"/>
            <a:ext cx="4297680" cy="1920240"/>
          </a:xfrm>
          <a:prstGeom prst="arc">
            <a:avLst/>
          </a:prstGeom>
          <a:noFill/>
          <a:ln w="13970">
            <a:solidFill>
              <a:srgbClr val="10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7680960" y="265176"/>
            <a:ext cx="4297680" cy="1920240"/>
          </a:xfrm>
          <a:prstGeom prst="arc">
            <a:avLst/>
          </a:prstGeom>
          <a:noFill/>
          <a:ln w="13970">
            <a:solidFill>
              <a:srgbClr val="124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7772400" y="297180"/>
            <a:ext cx="4297680" cy="1920240"/>
          </a:xfrm>
          <a:prstGeom prst="arc">
            <a:avLst/>
          </a:prstGeom>
          <a:noFill/>
          <a:ln w="13970">
            <a:solidFill>
              <a:srgbClr val="144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7863840" y="329184"/>
            <a:ext cx="4297680" cy="1920240"/>
          </a:xfrm>
          <a:prstGeom prst="arc">
            <a:avLst/>
          </a:prstGeom>
          <a:noFill/>
          <a:ln w="13970">
            <a:solidFill>
              <a:srgbClr val="165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7955279" y="361188"/>
            <a:ext cx="4297680" cy="1920240"/>
          </a:xfrm>
          <a:prstGeom prst="arc">
            <a:avLst/>
          </a:prstGeom>
          <a:noFill/>
          <a:ln w="13970">
            <a:solidFill>
              <a:srgbClr val="185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384048"/>
            <a:ext cx="64008" cy="530352"/>
          </a:xfrm>
          <a:prstGeom prst="rect">
            <a:avLst/>
          </a:prstGeom>
          <a:solidFill>
            <a:srgbClr val="5C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9CCCF"/>
                </a:solidFill>
                <a:latin typeface="Aptos"/>
              </a:defRPr>
            </a:pPr>
            <a:r>
              <a:t>INSIGHTS / 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9184"/>
            <a:ext cx="109728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500" b="1">
                <a:solidFill>
                  <a:srgbClr val="F4F9FA"/>
                </a:solidFill>
                <a:latin typeface="Aptos"/>
              </a:defRPr>
            </a:pPr>
            <a:r>
              <a:t>KPI — Annual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886968"/>
            <a:ext cx="98755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31BEA6"/>
                </a:solidFill>
                <a:latin typeface="Aptos"/>
              </a:defRPr>
            </a:pPr>
            <a:r>
              <a:t>KPI 02 • REVENUE PERFORMANCE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1417320"/>
            <a:ext cx="5806440" cy="4773168"/>
          </a:xfrm>
          <a:prstGeom prst="roundRect">
            <a:avLst/>
          </a:prstGeom>
          <a:solidFill>
            <a:srgbClr val="091C1F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609344"/>
            <a:ext cx="53035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B9CCCF"/>
                </a:solidFill>
                <a:latin typeface="Aptos"/>
              </a:defRPr>
            </a:pPr>
            <a:r>
              <a:t>DASHBOARD VISUAL</a:t>
            </a:r>
          </a:p>
        </p:txBody>
      </p:sp>
      <p:pic>
        <p:nvPicPr>
          <p:cNvPr id="17" name="Picture 16" descr="annual_revenue_k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245932"/>
            <a:ext cx="5321808" cy="141769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01968" y="1417320"/>
            <a:ext cx="5074920" cy="4773168"/>
          </a:xfrm>
          <a:prstGeom prst="roundRect">
            <a:avLst/>
          </a:prstGeom>
          <a:solidFill>
            <a:srgbClr val="0E272B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664208"/>
            <a:ext cx="44805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31BEA6"/>
                </a:solidFill>
                <a:latin typeface="Aptos"/>
              </a:defRPr>
            </a:pPr>
            <a:r>
              <a:t>WHAT THIS VISUAL TELLS US</a:t>
            </a:r>
          </a:p>
        </p:txBody>
      </p:sp>
      <p:sp>
        <p:nvSpPr>
          <p:cNvPr id="20" name="Oval 19"/>
          <p:cNvSpPr/>
          <p:nvPr/>
        </p:nvSpPr>
        <p:spPr>
          <a:xfrm>
            <a:off x="6931152" y="2295144"/>
            <a:ext cx="91440" cy="91440"/>
          </a:xfrm>
          <a:prstGeom prst="ellipse">
            <a:avLst/>
          </a:prstGeom>
          <a:solidFill>
            <a:srgbClr val="FFC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2212848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The dashboard shows summed annual revenue of 504K.</a:t>
            </a:r>
          </a:p>
        </p:txBody>
      </p:sp>
      <p:sp>
        <p:nvSpPr>
          <p:cNvPr id="22" name="Oval 21"/>
          <p:cNvSpPr/>
          <p:nvPr/>
        </p:nvSpPr>
        <p:spPr>
          <a:xfrm>
            <a:off x="6931152" y="3044951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2962656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This card acts as a headline indicator for revenue represented in the dataset.</a:t>
            </a:r>
          </a:p>
        </p:txBody>
      </p:sp>
      <p:sp>
        <p:nvSpPr>
          <p:cNvPr id="24" name="Oval 23"/>
          <p:cNvSpPr/>
          <p:nvPr/>
        </p:nvSpPr>
        <p:spPr>
          <a:xfrm>
            <a:off x="6931152" y="3794759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3712463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Review it alongside the city revenue chart to understand geographic distribution.</a:t>
            </a:r>
          </a:p>
        </p:txBody>
      </p:sp>
      <p:sp>
        <p:nvSpPr>
          <p:cNvPr id="26" name="Oval 25"/>
          <p:cNvSpPr/>
          <p:nvPr/>
        </p:nvSpPr>
        <p:spPr>
          <a:xfrm>
            <a:off x="6931152" y="4544568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4462272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Use consistent fiscal-year definitions when comparing this KPI across periods.</a:t>
            </a:r>
          </a:p>
        </p:txBody>
      </p:sp>
      <p:sp>
        <p:nvSpPr>
          <p:cNvPr id="28" name="Oval 27"/>
          <p:cNvSpPr/>
          <p:nvPr/>
        </p:nvSpPr>
        <p:spPr>
          <a:xfrm>
            <a:off x="6931152" y="5294376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5212080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A trend or year-over-year comparison adds context beyond the single total.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281928"/>
            <a:ext cx="10149840" cy="320040"/>
          </a:xfrm>
          <a:prstGeom prst="roundRect">
            <a:avLst/>
          </a:prstGeom>
          <a:solidFill>
            <a:srgbClr val="103839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00216"/>
            <a:ext cx="9784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4F9FA"/>
                </a:solidFill>
                <a:latin typeface="Aptos"/>
              </a:defRPr>
            </a:pPr>
            <a:r>
              <a:t>KEY TAKEAWAY  •  Annual revenue is shown as 504K; trend and period context are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7315200" y="137160"/>
            <a:ext cx="4297680" cy="1920240"/>
          </a:xfrm>
          <a:prstGeom prst="arc">
            <a:avLst/>
          </a:prstGeom>
          <a:noFill/>
          <a:ln w="13970">
            <a:solidFill>
              <a:srgbClr val="0A3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406640" y="169164"/>
            <a:ext cx="4297680" cy="1920240"/>
          </a:xfrm>
          <a:prstGeom prst="arc">
            <a:avLst/>
          </a:prstGeom>
          <a:noFill/>
          <a:ln w="13970">
            <a:solidFill>
              <a:srgbClr val="0C3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498079" y="201168"/>
            <a:ext cx="4297680" cy="1920240"/>
          </a:xfrm>
          <a:prstGeom prst="arc">
            <a:avLst/>
          </a:prstGeom>
          <a:noFill/>
          <a:ln w="13970">
            <a:solidFill>
              <a:srgbClr val="0E4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7589520" y="233172"/>
            <a:ext cx="4297680" cy="1920240"/>
          </a:xfrm>
          <a:prstGeom prst="arc">
            <a:avLst/>
          </a:prstGeom>
          <a:noFill/>
          <a:ln w="13970">
            <a:solidFill>
              <a:srgbClr val="10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7680960" y="265176"/>
            <a:ext cx="4297680" cy="1920240"/>
          </a:xfrm>
          <a:prstGeom prst="arc">
            <a:avLst/>
          </a:prstGeom>
          <a:noFill/>
          <a:ln w="13970">
            <a:solidFill>
              <a:srgbClr val="124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7772400" y="297180"/>
            <a:ext cx="4297680" cy="1920240"/>
          </a:xfrm>
          <a:prstGeom prst="arc">
            <a:avLst/>
          </a:prstGeom>
          <a:noFill/>
          <a:ln w="13970">
            <a:solidFill>
              <a:srgbClr val="144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7863840" y="329184"/>
            <a:ext cx="4297680" cy="1920240"/>
          </a:xfrm>
          <a:prstGeom prst="arc">
            <a:avLst/>
          </a:prstGeom>
          <a:noFill/>
          <a:ln w="13970">
            <a:solidFill>
              <a:srgbClr val="165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7955279" y="361188"/>
            <a:ext cx="4297680" cy="1920240"/>
          </a:xfrm>
          <a:prstGeom prst="arc">
            <a:avLst/>
          </a:prstGeom>
          <a:noFill/>
          <a:ln w="13970">
            <a:solidFill>
              <a:srgbClr val="185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384048"/>
            <a:ext cx="64008" cy="530352"/>
          </a:xfrm>
          <a:prstGeom prst="rect">
            <a:avLst/>
          </a:prstGeom>
          <a:solidFill>
            <a:srgbClr val="5C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9CCCF"/>
                </a:solidFill>
                <a:latin typeface="Aptos"/>
              </a:defRPr>
            </a:pPr>
            <a:r>
              <a:t>INSIGHTS / 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9184"/>
            <a:ext cx="109728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500" b="1">
                <a:solidFill>
                  <a:srgbClr val="F4F9FA"/>
                </a:solidFill>
                <a:latin typeface="Aptos"/>
              </a:defRPr>
            </a:pPr>
            <a:r>
              <a:t>KPI — Customer Since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886968"/>
            <a:ext cx="98755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31BEA6"/>
                </a:solidFill>
                <a:latin typeface="Aptos"/>
              </a:defRPr>
            </a:pPr>
            <a:r>
              <a:t>KPI 03 • CUSTOMER TENURE FIELD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1417320"/>
            <a:ext cx="5806440" cy="4773168"/>
          </a:xfrm>
          <a:prstGeom prst="roundRect">
            <a:avLst/>
          </a:prstGeom>
          <a:solidFill>
            <a:srgbClr val="091C1F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609344"/>
            <a:ext cx="53035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B9CCCF"/>
                </a:solidFill>
                <a:latin typeface="Aptos"/>
              </a:defRPr>
            </a:pPr>
            <a:r>
              <a:t>DASHBOARD VISUAL</a:t>
            </a:r>
          </a:p>
        </p:txBody>
      </p:sp>
      <p:pic>
        <p:nvPicPr>
          <p:cNvPr id="17" name="Picture 16" descr="customer_since_k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243015"/>
            <a:ext cx="5321808" cy="142352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01968" y="1417320"/>
            <a:ext cx="5074920" cy="4773168"/>
          </a:xfrm>
          <a:prstGeom prst="roundRect">
            <a:avLst/>
          </a:prstGeom>
          <a:solidFill>
            <a:srgbClr val="0E272B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664208"/>
            <a:ext cx="44805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31BEA6"/>
                </a:solidFill>
                <a:latin typeface="Aptos"/>
              </a:defRPr>
            </a:pPr>
            <a:r>
              <a:t>WHAT THIS VISUAL TELLS US</a:t>
            </a:r>
          </a:p>
        </p:txBody>
      </p:sp>
      <p:sp>
        <p:nvSpPr>
          <p:cNvPr id="20" name="Oval 19"/>
          <p:cNvSpPr/>
          <p:nvPr/>
        </p:nvSpPr>
        <p:spPr>
          <a:xfrm>
            <a:off x="6931152" y="2295144"/>
            <a:ext cx="91440" cy="91440"/>
          </a:xfrm>
          <a:prstGeom prst="ellipse">
            <a:avLst/>
          </a:prstGeom>
          <a:solidFill>
            <a:srgbClr val="FFC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2212848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The displayed aggregate is 2M for the field labelled Customer Since.</a:t>
            </a:r>
          </a:p>
        </p:txBody>
      </p:sp>
      <p:sp>
        <p:nvSpPr>
          <p:cNvPr id="22" name="Oval 21"/>
          <p:cNvSpPr/>
          <p:nvPr/>
        </p:nvSpPr>
        <p:spPr>
          <a:xfrm>
            <a:off x="6931152" y="3044951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2962656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Customer Since is often a date or tenure-related field, so summing it may not be meaningful.</a:t>
            </a:r>
          </a:p>
        </p:txBody>
      </p:sp>
      <p:sp>
        <p:nvSpPr>
          <p:cNvPr id="24" name="Oval 23"/>
          <p:cNvSpPr/>
          <p:nvPr/>
        </p:nvSpPr>
        <p:spPr>
          <a:xfrm>
            <a:off x="6931152" y="3794759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3712463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Check the source data type and aggregation setting in the BI report.</a:t>
            </a:r>
          </a:p>
        </p:txBody>
      </p:sp>
      <p:sp>
        <p:nvSpPr>
          <p:cNvPr id="26" name="Oval 25"/>
          <p:cNvSpPr/>
          <p:nvPr/>
        </p:nvSpPr>
        <p:spPr>
          <a:xfrm>
            <a:off x="6931152" y="4544568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4462272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A customer count by start year, average tenure or new-customer trend may be more informative.</a:t>
            </a:r>
          </a:p>
        </p:txBody>
      </p:sp>
      <p:sp>
        <p:nvSpPr>
          <p:cNvPr id="28" name="Oval 27"/>
          <p:cNvSpPr/>
          <p:nvPr/>
        </p:nvSpPr>
        <p:spPr>
          <a:xfrm>
            <a:off x="6931152" y="5294376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5212080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Treat this KPI cautiously until its definition is verified.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281928"/>
            <a:ext cx="10149840" cy="320040"/>
          </a:xfrm>
          <a:prstGeom prst="roundRect">
            <a:avLst/>
          </a:prstGeom>
          <a:solidFill>
            <a:srgbClr val="103839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00216"/>
            <a:ext cx="9784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4F9FA"/>
                </a:solidFill>
                <a:latin typeface="Aptos"/>
              </a:defRPr>
            </a:pPr>
            <a:r>
              <a:t>KEY TAKEAWAY  •  Verify the field definition: summing a customer-start date may not be meaningful.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7315200" y="137160"/>
            <a:ext cx="4297680" cy="1920240"/>
          </a:xfrm>
          <a:prstGeom prst="arc">
            <a:avLst/>
          </a:prstGeom>
          <a:noFill/>
          <a:ln w="13970">
            <a:solidFill>
              <a:srgbClr val="0A3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406640" y="169164"/>
            <a:ext cx="4297680" cy="1920240"/>
          </a:xfrm>
          <a:prstGeom prst="arc">
            <a:avLst/>
          </a:prstGeom>
          <a:noFill/>
          <a:ln w="13970">
            <a:solidFill>
              <a:srgbClr val="0C3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498079" y="201168"/>
            <a:ext cx="4297680" cy="1920240"/>
          </a:xfrm>
          <a:prstGeom prst="arc">
            <a:avLst/>
          </a:prstGeom>
          <a:noFill/>
          <a:ln w="13970">
            <a:solidFill>
              <a:srgbClr val="0E4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7589520" y="233172"/>
            <a:ext cx="4297680" cy="1920240"/>
          </a:xfrm>
          <a:prstGeom prst="arc">
            <a:avLst/>
          </a:prstGeom>
          <a:noFill/>
          <a:ln w="13970">
            <a:solidFill>
              <a:srgbClr val="10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7680960" y="265176"/>
            <a:ext cx="4297680" cy="1920240"/>
          </a:xfrm>
          <a:prstGeom prst="arc">
            <a:avLst/>
          </a:prstGeom>
          <a:noFill/>
          <a:ln w="13970">
            <a:solidFill>
              <a:srgbClr val="124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7772400" y="297180"/>
            <a:ext cx="4297680" cy="1920240"/>
          </a:xfrm>
          <a:prstGeom prst="arc">
            <a:avLst/>
          </a:prstGeom>
          <a:noFill/>
          <a:ln w="13970">
            <a:solidFill>
              <a:srgbClr val="144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7863840" y="329184"/>
            <a:ext cx="4297680" cy="1920240"/>
          </a:xfrm>
          <a:prstGeom prst="arc">
            <a:avLst/>
          </a:prstGeom>
          <a:noFill/>
          <a:ln w="13970">
            <a:solidFill>
              <a:srgbClr val="165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7955279" y="361188"/>
            <a:ext cx="4297680" cy="1920240"/>
          </a:xfrm>
          <a:prstGeom prst="arc">
            <a:avLst/>
          </a:prstGeom>
          <a:noFill/>
          <a:ln w="13970">
            <a:solidFill>
              <a:srgbClr val="185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384048"/>
            <a:ext cx="64008" cy="530352"/>
          </a:xfrm>
          <a:prstGeom prst="rect">
            <a:avLst/>
          </a:prstGeom>
          <a:solidFill>
            <a:srgbClr val="5C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9CCCF"/>
                </a:solidFill>
                <a:latin typeface="Aptos"/>
              </a:defRPr>
            </a:pPr>
            <a:r>
              <a:t>INSIGHTS / 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9184"/>
            <a:ext cx="109728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500" b="1">
                <a:solidFill>
                  <a:srgbClr val="F4F9FA"/>
                </a:solidFill>
                <a:latin typeface="Aptos"/>
              </a:defRPr>
            </a:pPr>
            <a:r>
              <a:t>KPI — Number of Employees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886968"/>
            <a:ext cx="98755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31BEA6"/>
                </a:solidFill>
                <a:latin typeface="Aptos"/>
              </a:defRPr>
            </a:pPr>
            <a:r>
              <a:t>KPI 04 • WORKFORCE SCALE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1417320"/>
            <a:ext cx="5806440" cy="4773168"/>
          </a:xfrm>
          <a:prstGeom prst="roundRect">
            <a:avLst/>
          </a:prstGeom>
          <a:solidFill>
            <a:srgbClr val="091C1F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609344"/>
            <a:ext cx="53035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B9CCCF"/>
                </a:solidFill>
                <a:latin typeface="Aptos"/>
              </a:defRPr>
            </a:pPr>
            <a:r>
              <a:t>DASHBOARD VISUAL</a:t>
            </a:r>
          </a:p>
        </p:txBody>
      </p:sp>
      <p:pic>
        <p:nvPicPr>
          <p:cNvPr id="17" name="Picture 16" descr="employees_k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243015"/>
            <a:ext cx="5321808" cy="142352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01968" y="1417320"/>
            <a:ext cx="5074920" cy="4773168"/>
          </a:xfrm>
          <a:prstGeom prst="roundRect">
            <a:avLst/>
          </a:prstGeom>
          <a:solidFill>
            <a:srgbClr val="0E272B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664208"/>
            <a:ext cx="44805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31BEA6"/>
                </a:solidFill>
                <a:latin typeface="Aptos"/>
              </a:defRPr>
            </a:pPr>
            <a:r>
              <a:t>WHAT THIS VISUAL TELLS US</a:t>
            </a:r>
          </a:p>
        </p:txBody>
      </p:sp>
      <p:sp>
        <p:nvSpPr>
          <p:cNvPr id="20" name="Oval 19"/>
          <p:cNvSpPr/>
          <p:nvPr/>
        </p:nvSpPr>
        <p:spPr>
          <a:xfrm>
            <a:off x="6931152" y="2295144"/>
            <a:ext cx="91440" cy="91440"/>
          </a:xfrm>
          <a:prstGeom prst="ellipse">
            <a:avLst/>
          </a:prstGeom>
          <a:solidFill>
            <a:srgbClr val="FFC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2212848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The card reports a summed employee measure of 5M.</a:t>
            </a:r>
          </a:p>
        </p:txBody>
      </p:sp>
      <p:sp>
        <p:nvSpPr>
          <p:cNvPr id="22" name="Oval 21"/>
          <p:cNvSpPr/>
          <p:nvPr/>
        </p:nvSpPr>
        <p:spPr>
          <a:xfrm>
            <a:off x="6931152" y="3044951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2962656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This is the value displayed by the source, not necessarily a unique employee headcount.</a:t>
            </a:r>
          </a:p>
        </p:txBody>
      </p:sp>
      <p:sp>
        <p:nvSpPr>
          <p:cNvPr id="24" name="Oval 23"/>
          <p:cNvSpPr/>
          <p:nvPr/>
        </p:nvSpPr>
        <p:spPr>
          <a:xfrm>
            <a:off x="6931152" y="3794759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3712463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The large magnitude suggests checking whether counts repeat across customer or department records.</a:t>
            </a:r>
          </a:p>
        </p:txBody>
      </p:sp>
      <p:sp>
        <p:nvSpPr>
          <p:cNvPr id="26" name="Oval 25"/>
          <p:cNvSpPr/>
          <p:nvPr/>
        </p:nvSpPr>
        <p:spPr>
          <a:xfrm>
            <a:off x="6931152" y="4544568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4462272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For workforce reporting, a distinct count or validated snapshot may be more suitable.</a:t>
            </a:r>
          </a:p>
        </p:txBody>
      </p:sp>
      <p:sp>
        <p:nvSpPr>
          <p:cNvPr id="28" name="Oval 27"/>
          <p:cNvSpPr/>
          <p:nvPr/>
        </p:nvSpPr>
        <p:spPr>
          <a:xfrm>
            <a:off x="6931152" y="5294376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5212080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Compare with department charts only after confirming the same data grain.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281928"/>
            <a:ext cx="10149840" cy="320040"/>
          </a:xfrm>
          <a:prstGeom prst="roundRect">
            <a:avLst/>
          </a:prstGeom>
          <a:solidFill>
            <a:srgbClr val="103839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00216"/>
            <a:ext cx="9784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4F9FA"/>
                </a:solidFill>
                <a:latin typeface="Aptos"/>
              </a:defRPr>
            </a:pPr>
            <a:r>
              <a:t>KEY TAKEAWAY  •  Validate the data grain because a summed employee field can overstate headcount.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7315200" y="137160"/>
            <a:ext cx="4297680" cy="1920240"/>
          </a:xfrm>
          <a:prstGeom prst="arc">
            <a:avLst/>
          </a:prstGeom>
          <a:noFill/>
          <a:ln w="13970">
            <a:solidFill>
              <a:srgbClr val="0A3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406640" y="169164"/>
            <a:ext cx="4297680" cy="1920240"/>
          </a:xfrm>
          <a:prstGeom prst="arc">
            <a:avLst/>
          </a:prstGeom>
          <a:noFill/>
          <a:ln w="13970">
            <a:solidFill>
              <a:srgbClr val="0C3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498079" y="201168"/>
            <a:ext cx="4297680" cy="1920240"/>
          </a:xfrm>
          <a:prstGeom prst="arc">
            <a:avLst/>
          </a:prstGeom>
          <a:noFill/>
          <a:ln w="13970">
            <a:solidFill>
              <a:srgbClr val="0E4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7589520" y="233172"/>
            <a:ext cx="4297680" cy="1920240"/>
          </a:xfrm>
          <a:prstGeom prst="arc">
            <a:avLst/>
          </a:prstGeom>
          <a:noFill/>
          <a:ln w="13970">
            <a:solidFill>
              <a:srgbClr val="10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7680960" y="265176"/>
            <a:ext cx="4297680" cy="1920240"/>
          </a:xfrm>
          <a:prstGeom prst="arc">
            <a:avLst/>
          </a:prstGeom>
          <a:noFill/>
          <a:ln w="13970">
            <a:solidFill>
              <a:srgbClr val="124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7772400" y="297180"/>
            <a:ext cx="4297680" cy="1920240"/>
          </a:xfrm>
          <a:prstGeom prst="arc">
            <a:avLst/>
          </a:prstGeom>
          <a:noFill/>
          <a:ln w="13970">
            <a:solidFill>
              <a:srgbClr val="144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7863840" y="329184"/>
            <a:ext cx="4297680" cy="1920240"/>
          </a:xfrm>
          <a:prstGeom prst="arc">
            <a:avLst/>
          </a:prstGeom>
          <a:noFill/>
          <a:ln w="13970">
            <a:solidFill>
              <a:srgbClr val="165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7955279" y="361188"/>
            <a:ext cx="4297680" cy="1920240"/>
          </a:xfrm>
          <a:prstGeom prst="arc">
            <a:avLst/>
          </a:prstGeom>
          <a:noFill/>
          <a:ln w="13970">
            <a:solidFill>
              <a:srgbClr val="185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384048"/>
            <a:ext cx="64008" cy="530352"/>
          </a:xfrm>
          <a:prstGeom prst="rect">
            <a:avLst/>
          </a:prstGeom>
          <a:solidFill>
            <a:srgbClr val="5C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9CCCF"/>
                </a:solidFill>
                <a:latin typeface="Aptos"/>
              </a:defRPr>
            </a:pPr>
            <a:r>
              <a:t>INSIGHTS / 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9184"/>
            <a:ext cx="109728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500" b="1">
                <a:solidFill>
                  <a:srgbClr val="F4F9FA"/>
                </a:solidFill>
                <a:latin typeface="Aptos"/>
              </a:defRPr>
            </a:pPr>
            <a:r>
              <a:t>KPI — Customer ID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886968"/>
            <a:ext cx="98755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31BEA6"/>
                </a:solidFill>
                <a:latin typeface="Aptos"/>
              </a:defRPr>
            </a:pPr>
            <a:r>
              <a:t>KPI 05 • CUSTOMER COVERAGE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1417320"/>
            <a:ext cx="5806440" cy="4773168"/>
          </a:xfrm>
          <a:prstGeom prst="roundRect">
            <a:avLst/>
          </a:prstGeom>
          <a:solidFill>
            <a:srgbClr val="091C1F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609344"/>
            <a:ext cx="53035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B9CCCF"/>
                </a:solidFill>
                <a:latin typeface="Aptos"/>
              </a:defRPr>
            </a:pPr>
            <a:r>
              <a:t>DASHBOARD VISUAL</a:t>
            </a:r>
          </a:p>
        </p:txBody>
      </p:sp>
      <p:pic>
        <p:nvPicPr>
          <p:cNvPr id="17" name="Picture 16" descr="customer_id_k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243015"/>
            <a:ext cx="5321808" cy="142352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01968" y="1417320"/>
            <a:ext cx="5074920" cy="4773168"/>
          </a:xfrm>
          <a:prstGeom prst="roundRect">
            <a:avLst/>
          </a:prstGeom>
          <a:solidFill>
            <a:srgbClr val="0E272B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664208"/>
            <a:ext cx="44805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31BEA6"/>
                </a:solidFill>
                <a:latin typeface="Aptos"/>
              </a:defRPr>
            </a:pPr>
            <a:r>
              <a:t>WHAT THIS VISUAL TELLS US</a:t>
            </a:r>
          </a:p>
        </p:txBody>
      </p:sp>
      <p:sp>
        <p:nvSpPr>
          <p:cNvPr id="20" name="Oval 19"/>
          <p:cNvSpPr/>
          <p:nvPr/>
        </p:nvSpPr>
        <p:spPr>
          <a:xfrm>
            <a:off x="6931152" y="2295144"/>
            <a:ext cx="91440" cy="91440"/>
          </a:xfrm>
          <a:prstGeom prst="ellipse">
            <a:avLst/>
          </a:prstGeom>
          <a:solidFill>
            <a:srgbClr val="FFC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2212848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The dashboard displays a count of Customer ID of 1K.</a:t>
            </a:r>
          </a:p>
        </p:txBody>
      </p:sp>
      <p:sp>
        <p:nvSpPr>
          <p:cNvPr id="22" name="Oval 21"/>
          <p:cNvSpPr/>
          <p:nvPr/>
        </p:nvSpPr>
        <p:spPr>
          <a:xfrm>
            <a:off x="6931152" y="3044951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2962656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A count indicates nonblank ID records, which may differ from unique customers.</a:t>
            </a:r>
          </a:p>
        </p:txBody>
      </p:sp>
      <p:sp>
        <p:nvSpPr>
          <p:cNvPr id="24" name="Oval 23"/>
          <p:cNvSpPr/>
          <p:nvPr/>
        </p:nvSpPr>
        <p:spPr>
          <a:xfrm>
            <a:off x="6931152" y="3794759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3712463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Use a distinct count if customer IDs can appear in multiple rows.</a:t>
            </a:r>
          </a:p>
        </p:txBody>
      </p:sp>
      <p:sp>
        <p:nvSpPr>
          <p:cNvPr id="26" name="Oval 25"/>
          <p:cNvSpPr/>
          <p:nvPr/>
        </p:nvSpPr>
        <p:spPr>
          <a:xfrm>
            <a:off x="6931152" y="4544568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4462272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Compare customer count with country and city distributions to understand coverage.</a:t>
            </a:r>
          </a:p>
        </p:txBody>
      </p:sp>
      <p:sp>
        <p:nvSpPr>
          <p:cNvPr id="28" name="Oval 27"/>
          <p:cNvSpPr/>
          <p:nvPr/>
        </p:nvSpPr>
        <p:spPr>
          <a:xfrm>
            <a:off x="6931152" y="5294376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5212080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Check missing IDs and duplicates as part of data-quality review.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281928"/>
            <a:ext cx="10149840" cy="320040"/>
          </a:xfrm>
          <a:prstGeom prst="roundRect">
            <a:avLst/>
          </a:prstGeom>
          <a:solidFill>
            <a:srgbClr val="103839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00216"/>
            <a:ext cx="9784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4F9FA"/>
                </a:solidFill>
                <a:latin typeface="Aptos"/>
              </a:defRPr>
            </a:pPr>
            <a:r>
              <a:t>KEY TAKEAWAY  •  The dashboard counts about 1K ID records; confirm whether this is distinct customers.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7315200" y="137160"/>
            <a:ext cx="4297680" cy="1920240"/>
          </a:xfrm>
          <a:prstGeom prst="arc">
            <a:avLst/>
          </a:prstGeom>
          <a:noFill/>
          <a:ln w="13970">
            <a:solidFill>
              <a:srgbClr val="0A3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406640" y="169164"/>
            <a:ext cx="4297680" cy="1920240"/>
          </a:xfrm>
          <a:prstGeom prst="arc">
            <a:avLst/>
          </a:prstGeom>
          <a:noFill/>
          <a:ln w="13970">
            <a:solidFill>
              <a:srgbClr val="0C3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498079" y="201168"/>
            <a:ext cx="4297680" cy="1920240"/>
          </a:xfrm>
          <a:prstGeom prst="arc">
            <a:avLst/>
          </a:prstGeom>
          <a:noFill/>
          <a:ln w="13970">
            <a:solidFill>
              <a:srgbClr val="0E4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7589520" y="233172"/>
            <a:ext cx="4297680" cy="1920240"/>
          </a:xfrm>
          <a:prstGeom prst="arc">
            <a:avLst/>
          </a:prstGeom>
          <a:noFill/>
          <a:ln w="13970">
            <a:solidFill>
              <a:srgbClr val="10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7680960" y="265176"/>
            <a:ext cx="4297680" cy="1920240"/>
          </a:xfrm>
          <a:prstGeom prst="arc">
            <a:avLst/>
          </a:prstGeom>
          <a:noFill/>
          <a:ln w="13970">
            <a:solidFill>
              <a:srgbClr val="124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7772400" y="297180"/>
            <a:ext cx="4297680" cy="1920240"/>
          </a:xfrm>
          <a:prstGeom prst="arc">
            <a:avLst/>
          </a:prstGeom>
          <a:noFill/>
          <a:ln w="13970">
            <a:solidFill>
              <a:srgbClr val="144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7863840" y="329184"/>
            <a:ext cx="4297680" cy="1920240"/>
          </a:xfrm>
          <a:prstGeom prst="arc">
            <a:avLst/>
          </a:prstGeom>
          <a:noFill/>
          <a:ln w="13970">
            <a:solidFill>
              <a:srgbClr val="165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7955279" y="361188"/>
            <a:ext cx="4297680" cy="1920240"/>
          </a:xfrm>
          <a:prstGeom prst="arc">
            <a:avLst/>
          </a:prstGeom>
          <a:noFill/>
          <a:ln w="13970">
            <a:solidFill>
              <a:srgbClr val="185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384048"/>
            <a:ext cx="64008" cy="530352"/>
          </a:xfrm>
          <a:prstGeom prst="rect">
            <a:avLst/>
          </a:prstGeom>
          <a:solidFill>
            <a:srgbClr val="5C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9CCCF"/>
                </a:solidFill>
                <a:latin typeface="Aptos"/>
              </a:defRPr>
            </a:pPr>
            <a:r>
              <a:t>INSIGHTS / 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9184"/>
            <a:ext cx="109728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500" b="1">
                <a:solidFill>
                  <a:srgbClr val="F4F9FA"/>
                </a:solidFill>
                <a:latin typeface="Aptos"/>
              </a:defRPr>
            </a:pPr>
            <a:r>
              <a:t>KPI — Message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886968"/>
            <a:ext cx="98755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31BEA6"/>
                </a:solidFill>
                <a:latin typeface="Aptos"/>
              </a:defRPr>
            </a:pPr>
            <a:r>
              <a:t>KPI 06 • ENGAGEMENT ACTIVITY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1417320"/>
            <a:ext cx="5806440" cy="4773168"/>
          </a:xfrm>
          <a:prstGeom prst="roundRect">
            <a:avLst/>
          </a:prstGeom>
          <a:solidFill>
            <a:srgbClr val="091C1F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609344"/>
            <a:ext cx="53035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B9CCCF"/>
                </a:solidFill>
                <a:latin typeface="Aptos"/>
              </a:defRPr>
            </a:pPr>
            <a:r>
              <a:t>DASHBOARD VISUAL</a:t>
            </a:r>
          </a:p>
        </p:txBody>
      </p:sp>
      <p:pic>
        <p:nvPicPr>
          <p:cNvPr id="17" name="Picture 16" descr="messages_k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245932"/>
            <a:ext cx="5321808" cy="141769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01968" y="1417320"/>
            <a:ext cx="5074920" cy="4773168"/>
          </a:xfrm>
          <a:prstGeom prst="roundRect">
            <a:avLst/>
          </a:prstGeom>
          <a:solidFill>
            <a:srgbClr val="0E272B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664208"/>
            <a:ext cx="44805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31BEA6"/>
                </a:solidFill>
                <a:latin typeface="Aptos"/>
              </a:defRPr>
            </a:pPr>
            <a:r>
              <a:t>WHAT THIS VISUAL TELLS US</a:t>
            </a:r>
          </a:p>
        </p:txBody>
      </p:sp>
      <p:sp>
        <p:nvSpPr>
          <p:cNvPr id="20" name="Oval 19"/>
          <p:cNvSpPr/>
          <p:nvPr/>
        </p:nvSpPr>
        <p:spPr>
          <a:xfrm>
            <a:off x="6931152" y="2295144"/>
            <a:ext cx="91440" cy="91440"/>
          </a:xfrm>
          <a:prstGeom prst="ellipse">
            <a:avLst/>
          </a:prstGeom>
          <a:solidFill>
            <a:srgbClr val="FFC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2212848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The card displays a count of Messages of 1K.</a:t>
            </a:r>
          </a:p>
        </p:txBody>
      </p:sp>
      <p:sp>
        <p:nvSpPr>
          <p:cNvPr id="22" name="Oval 21"/>
          <p:cNvSpPr/>
          <p:nvPr/>
        </p:nvSpPr>
        <p:spPr>
          <a:xfrm>
            <a:off x="6931152" y="3044951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2962656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This may represent message entries included in the current report context.</a:t>
            </a:r>
          </a:p>
        </p:txBody>
      </p:sp>
      <p:sp>
        <p:nvSpPr>
          <p:cNvPr id="24" name="Oval 23"/>
          <p:cNvSpPr/>
          <p:nvPr/>
        </p:nvSpPr>
        <p:spPr>
          <a:xfrm>
            <a:off x="6931152" y="3794759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3712463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Compare message volume with customer count to estimate engagement per customer.</a:t>
            </a:r>
          </a:p>
        </p:txBody>
      </p:sp>
      <p:sp>
        <p:nvSpPr>
          <p:cNvPr id="26" name="Oval 25"/>
          <p:cNvSpPr/>
          <p:nvPr/>
        </p:nvSpPr>
        <p:spPr>
          <a:xfrm>
            <a:off x="6931152" y="4544568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4462272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A time-based trend can reveal peaks, drops or changes in communication activity.</a:t>
            </a:r>
          </a:p>
        </p:txBody>
      </p:sp>
      <p:sp>
        <p:nvSpPr>
          <p:cNvPr id="28" name="Oval 27"/>
          <p:cNvSpPr/>
          <p:nvPr/>
        </p:nvSpPr>
        <p:spPr>
          <a:xfrm>
            <a:off x="6931152" y="5294376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5212080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Clarify whether the measure counts messages, message-bearing rows or nonblank values.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281928"/>
            <a:ext cx="10149840" cy="320040"/>
          </a:xfrm>
          <a:prstGeom prst="roundRect">
            <a:avLst/>
          </a:prstGeom>
          <a:solidFill>
            <a:srgbClr val="103839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00216"/>
            <a:ext cx="9784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4F9FA"/>
                </a:solidFill>
                <a:latin typeface="Aptos"/>
              </a:defRPr>
            </a:pPr>
            <a:r>
              <a:t>KEY TAKEAWAY  •  Message count is about 1K; define the counting logic before comparison.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7315200" y="137160"/>
            <a:ext cx="4297680" cy="1920240"/>
          </a:xfrm>
          <a:prstGeom prst="arc">
            <a:avLst/>
          </a:prstGeom>
          <a:noFill/>
          <a:ln w="13970">
            <a:solidFill>
              <a:srgbClr val="0A3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406640" y="169164"/>
            <a:ext cx="4297680" cy="1920240"/>
          </a:xfrm>
          <a:prstGeom prst="arc">
            <a:avLst/>
          </a:prstGeom>
          <a:noFill/>
          <a:ln w="13970">
            <a:solidFill>
              <a:srgbClr val="0C3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498079" y="201168"/>
            <a:ext cx="4297680" cy="1920240"/>
          </a:xfrm>
          <a:prstGeom prst="arc">
            <a:avLst/>
          </a:prstGeom>
          <a:noFill/>
          <a:ln w="13970">
            <a:solidFill>
              <a:srgbClr val="0E4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7589520" y="233172"/>
            <a:ext cx="4297680" cy="1920240"/>
          </a:xfrm>
          <a:prstGeom prst="arc">
            <a:avLst/>
          </a:prstGeom>
          <a:noFill/>
          <a:ln w="13970">
            <a:solidFill>
              <a:srgbClr val="10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7680960" y="265176"/>
            <a:ext cx="4297680" cy="1920240"/>
          </a:xfrm>
          <a:prstGeom prst="arc">
            <a:avLst/>
          </a:prstGeom>
          <a:noFill/>
          <a:ln w="13970">
            <a:solidFill>
              <a:srgbClr val="124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7772400" y="297180"/>
            <a:ext cx="4297680" cy="1920240"/>
          </a:xfrm>
          <a:prstGeom prst="arc">
            <a:avLst/>
          </a:prstGeom>
          <a:noFill/>
          <a:ln w="13970">
            <a:solidFill>
              <a:srgbClr val="144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7863840" y="329184"/>
            <a:ext cx="4297680" cy="1920240"/>
          </a:xfrm>
          <a:prstGeom prst="arc">
            <a:avLst/>
          </a:prstGeom>
          <a:noFill/>
          <a:ln w="13970">
            <a:solidFill>
              <a:srgbClr val="165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7955279" y="361188"/>
            <a:ext cx="4297680" cy="1920240"/>
          </a:xfrm>
          <a:prstGeom prst="arc">
            <a:avLst/>
          </a:prstGeom>
          <a:noFill/>
          <a:ln w="13970">
            <a:solidFill>
              <a:srgbClr val="185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384048"/>
            <a:ext cx="64008" cy="530352"/>
          </a:xfrm>
          <a:prstGeom prst="rect">
            <a:avLst/>
          </a:prstGeom>
          <a:solidFill>
            <a:srgbClr val="5C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9CCCF"/>
                </a:solidFill>
                <a:latin typeface="Aptos"/>
              </a:defRPr>
            </a:pPr>
            <a:r>
              <a:t>INSIGHTS / 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9184"/>
            <a:ext cx="109728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500" b="1">
                <a:solidFill>
                  <a:srgbClr val="F4F9FA"/>
                </a:solidFill>
                <a:latin typeface="Aptos"/>
              </a:defRPr>
            </a:pPr>
            <a:r>
              <a:t>Department Ranking — Employee Totals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886968"/>
            <a:ext cx="98755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31BEA6"/>
                </a:solidFill>
                <a:latin typeface="Aptos"/>
              </a:defRPr>
            </a:pPr>
            <a:r>
              <a:t>CHART 03 • HORIZONTAL BAR CHART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1417320"/>
            <a:ext cx="5806440" cy="4773168"/>
          </a:xfrm>
          <a:prstGeom prst="roundRect">
            <a:avLst/>
          </a:prstGeom>
          <a:solidFill>
            <a:srgbClr val="091C1F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609344"/>
            <a:ext cx="53035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B9CCCF"/>
                </a:solidFill>
                <a:latin typeface="Aptos"/>
              </a:defRPr>
            </a:pPr>
            <a:r>
              <a:t>DASHBOARD VISUAL</a:t>
            </a:r>
          </a:p>
        </p:txBody>
      </p:sp>
      <p:pic>
        <p:nvPicPr>
          <p:cNvPr id="17" name="Picture 16" descr="employees_by_depar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717459"/>
            <a:ext cx="5321808" cy="247464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01968" y="1417320"/>
            <a:ext cx="5074920" cy="4773168"/>
          </a:xfrm>
          <a:prstGeom prst="roundRect">
            <a:avLst/>
          </a:prstGeom>
          <a:solidFill>
            <a:srgbClr val="0E272B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664208"/>
            <a:ext cx="44805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31BEA6"/>
                </a:solidFill>
                <a:latin typeface="Aptos"/>
              </a:defRPr>
            </a:pPr>
            <a:r>
              <a:t>WHAT THIS VISUAL TELLS US</a:t>
            </a:r>
          </a:p>
        </p:txBody>
      </p:sp>
      <p:sp>
        <p:nvSpPr>
          <p:cNvPr id="20" name="Oval 19"/>
          <p:cNvSpPr/>
          <p:nvPr/>
        </p:nvSpPr>
        <p:spPr>
          <a:xfrm>
            <a:off x="6931152" y="2295144"/>
            <a:ext cx="91440" cy="91440"/>
          </a:xfrm>
          <a:prstGeom prst="ellipse">
            <a:avLst/>
          </a:prstGeom>
          <a:solidFill>
            <a:srgbClr val="FFC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2212848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Dispatch Department has the longest bar in the displayed ranking.</a:t>
            </a:r>
          </a:p>
        </p:txBody>
      </p:sp>
      <p:sp>
        <p:nvSpPr>
          <p:cNvPr id="22" name="Oval 21"/>
          <p:cNvSpPr/>
          <p:nvPr/>
        </p:nvSpPr>
        <p:spPr>
          <a:xfrm>
            <a:off x="6931152" y="3044951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2962656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Designing and Finance follow, with Account and Administration below them in this view.</a:t>
            </a:r>
          </a:p>
        </p:txBody>
      </p:sp>
      <p:sp>
        <p:nvSpPr>
          <p:cNvPr id="24" name="Oval 23"/>
          <p:cNvSpPr/>
          <p:nvPr/>
        </p:nvSpPr>
        <p:spPr>
          <a:xfrm>
            <a:off x="6931152" y="3794759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3712463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Horizontal bars make department comparisons and label reading straightforward.</a:t>
            </a:r>
          </a:p>
        </p:txBody>
      </p:sp>
      <p:sp>
        <p:nvSpPr>
          <p:cNvPr id="26" name="Oval 25"/>
          <p:cNvSpPr/>
          <p:nvPr/>
        </p:nvSpPr>
        <p:spPr>
          <a:xfrm>
            <a:off x="6931152" y="4544568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4462272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The axis is shown in millions (M), so verify the employee measure and scaling.</a:t>
            </a:r>
          </a:p>
        </p:txBody>
      </p:sp>
      <p:sp>
        <p:nvSpPr>
          <p:cNvPr id="28" name="Oval 27"/>
          <p:cNvSpPr/>
          <p:nvPr/>
        </p:nvSpPr>
        <p:spPr>
          <a:xfrm>
            <a:off x="6931152" y="5294376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5212080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Use the ranking to identify workforce concentration, not as a substitute for validated headcount.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281928"/>
            <a:ext cx="10149840" cy="320040"/>
          </a:xfrm>
          <a:prstGeom prst="roundRect">
            <a:avLst/>
          </a:prstGeom>
          <a:solidFill>
            <a:srgbClr val="103839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00216"/>
            <a:ext cx="9784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4F9FA"/>
                </a:solidFill>
                <a:latin typeface="Aptos"/>
              </a:defRPr>
            </a:pPr>
            <a:r>
              <a:t>KEY TAKEAWAY  •  Dispatch leads the displayed department ranking; verify units and aggregation.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7315200" y="137160"/>
            <a:ext cx="4297680" cy="1920240"/>
          </a:xfrm>
          <a:prstGeom prst="arc">
            <a:avLst/>
          </a:prstGeom>
          <a:noFill/>
          <a:ln w="13970">
            <a:solidFill>
              <a:srgbClr val="0A3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406640" y="169164"/>
            <a:ext cx="4297680" cy="1920240"/>
          </a:xfrm>
          <a:prstGeom prst="arc">
            <a:avLst/>
          </a:prstGeom>
          <a:noFill/>
          <a:ln w="13970">
            <a:solidFill>
              <a:srgbClr val="0C3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498079" y="201168"/>
            <a:ext cx="4297680" cy="1920240"/>
          </a:xfrm>
          <a:prstGeom prst="arc">
            <a:avLst/>
          </a:prstGeom>
          <a:noFill/>
          <a:ln w="13970">
            <a:solidFill>
              <a:srgbClr val="0E4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7589520" y="233172"/>
            <a:ext cx="4297680" cy="1920240"/>
          </a:xfrm>
          <a:prstGeom prst="arc">
            <a:avLst/>
          </a:prstGeom>
          <a:noFill/>
          <a:ln w="13970">
            <a:solidFill>
              <a:srgbClr val="10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7680960" y="265176"/>
            <a:ext cx="4297680" cy="1920240"/>
          </a:xfrm>
          <a:prstGeom prst="arc">
            <a:avLst/>
          </a:prstGeom>
          <a:noFill/>
          <a:ln w="13970">
            <a:solidFill>
              <a:srgbClr val="124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7772400" y="297180"/>
            <a:ext cx="4297680" cy="1920240"/>
          </a:xfrm>
          <a:prstGeom prst="arc">
            <a:avLst/>
          </a:prstGeom>
          <a:noFill/>
          <a:ln w="13970">
            <a:solidFill>
              <a:srgbClr val="144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7863840" y="329184"/>
            <a:ext cx="4297680" cy="1920240"/>
          </a:xfrm>
          <a:prstGeom prst="arc">
            <a:avLst/>
          </a:prstGeom>
          <a:noFill/>
          <a:ln w="13970">
            <a:solidFill>
              <a:srgbClr val="165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7955279" y="361188"/>
            <a:ext cx="4297680" cy="1920240"/>
          </a:xfrm>
          <a:prstGeom prst="arc">
            <a:avLst/>
          </a:prstGeom>
          <a:noFill/>
          <a:ln w="13970">
            <a:solidFill>
              <a:srgbClr val="185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384048"/>
            <a:ext cx="64008" cy="530352"/>
          </a:xfrm>
          <a:prstGeom prst="rect">
            <a:avLst/>
          </a:prstGeom>
          <a:solidFill>
            <a:srgbClr val="5C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9CCCF"/>
                </a:solidFill>
                <a:latin typeface="Aptos"/>
              </a:defRPr>
            </a:pPr>
            <a:r>
              <a:t>INSIGHTS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9184"/>
            <a:ext cx="109728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500" b="1">
                <a:solidFill>
                  <a:srgbClr val="F4F9FA"/>
                </a:solidFill>
                <a:latin typeface="Aptos"/>
              </a:defRPr>
            </a:pPr>
            <a:r>
              <a:t>Annual Revenue by City — Bar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886968"/>
            <a:ext cx="98755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31BEA6"/>
                </a:solidFill>
                <a:latin typeface="Aptos"/>
              </a:defRPr>
            </a:pPr>
            <a:r>
              <a:t>CHART 04 • CITY COMPARISON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1417320"/>
            <a:ext cx="5806440" cy="4773168"/>
          </a:xfrm>
          <a:prstGeom prst="roundRect">
            <a:avLst/>
          </a:prstGeom>
          <a:solidFill>
            <a:srgbClr val="091C1F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609344"/>
            <a:ext cx="53035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B9CCCF"/>
                </a:solidFill>
                <a:latin typeface="Aptos"/>
              </a:defRPr>
            </a:pPr>
            <a:r>
              <a:t>DASHBOARD VISUAL</a:t>
            </a:r>
          </a:p>
        </p:txBody>
      </p:sp>
      <p:pic>
        <p:nvPicPr>
          <p:cNvPr id="17" name="Picture 16" descr="revenue_by_cit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79979"/>
            <a:ext cx="5321808" cy="27496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01968" y="1417320"/>
            <a:ext cx="5074920" cy="4773168"/>
          </a:xfrm>
          <a:prstGeom prst="roundRect">
            <a:avLst/>
          </a:prstGeom>
          <a:solidFill>
            <a:srgbClr val="0E272B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664208"/>
            <a:ext cx="44805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31BEA6"/>
                </a:solidFill>
                <a:latin typeface="Aptos"/>
              </a:defRPr>
            </a:pPr>
            <a:r>
              <a:t>WHAT THIS VISUAL TELLS US</a:t>
            </a:r>
          </a:p>
        </p:txBody>
      </p:sp>
      <p:sp>
        <p:nvSpPr>
          <p:cNvPr id="20" name="Oval 19"/>
          <p:cNvSpPr/>
          <p:nvPr/>
        </p:nvSpPr>
        <p:spPr>
          <a:xfrm>
            <a:off x="6931152" y="2295144"/>
            <a:ext cx="91440" cy="91440"/>
          </a:xfrm>
          <a:prstGeom prst="ellipse">
            <a:avLst/>
          </a:prstGeom>
          <a:solidFill>
            <a:srgbClr val="FFC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2212848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Aaronmouth has the tallest bar among the four displayed cities.</a:t>
            </a:r>
          </a:p>
        </p:txBody>
      </p:sp>
      <p:sp>
        <p:nvSpPr>
          <p:cNvPr id="22" name="Oval 21"/>
          <p:cNvSpPr/>
          <p:nvPr/>
        </p:nvSpPr>
        <p:spPr>
          <a:xfrm>
            <a:off x="6931152" y="3044951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2962656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Candicetown follows, then Diamondland, with Bentonfort lowest in the shown comparison.</a:t>
            </a:r>
          </a:p>
        </p:txBody>
      </p:sp>
      <p:sp>
        <p:nvSpPr>
          <p:cNvPr id="24" name="Oval 23"/>
          <p:cNvSpPr/>
          <p:nvPr/>
        </p:nvSpPr>
        <p:spPr>
          <a:xfrm>
            <a:off x="6931152" y="3794759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3712463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The chart makes relative city-level revenue differences easy to scan.</a:t>
            </a:r>
          </a:p>
        </p:txBody>
      </p:sp>
      <p:sp>
        <p:nvSpPr>
          <p:cNvPr id="26" name="Oval 25"/>
          <p:cNvSpPr/>
          <p:nvPr/>
        </p:nvSpPr>
        <p:spPr>
          <a:xfrm>
            <a:off x="6931152" y="4544568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4462272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Only four city labels are visible, so this may be a selected subset.</a:t>
            </a:r>
          </a:p>
        </p:txBody>
      </p:sp>
      <p:sp>
        <p:nvSpPr>
          <p:cNvPr id="28" name="Oval 27"/>
          <p:cNvSpPr/>
          <p:nvPr/>
        </p:nvSpPr>
        <p:spPr>
          <a:xfrm>
            <a:off x="6931152" y="5294376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5212080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Use a city filter and consistent time window to investigate revenue gaps.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281928"/>
            <a:ext cx="10149840" cy="320040"/>
          </a:xfrm>
          <a:prstGeom prst="roundRect">
            <a:avLst/>
          </a:prstGeom>
          <a:solidFill>
            <a:srgbClr val="103839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00216"/>
            <a:ext cx="9784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4F9FA"/>
                </a:solidFill>
                <a:latin typeface="Aptos"/>
              </a:defRPr>
            </a:pPr>
            <a:r>
              <a:t>KEY TAKEAWAY  •  Aaronmouth leads the four-city comparison in the supplied visual.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7315200" y="137160"/>
            <a:ext cx="4297680" cy="1920240"/>
          </a:xfrm>
          <a:prstGeom prst="arc">
            <a:avLst/>
          </a:prstGeom>
          <a:noFill/>
          <a:ln w="13970">
            <a:solidFill>
              <a:srgbClr val="0A3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406640" y="169164"/>
            <a:ext cx="4297680" cy="1920240"/>
          </a:xfrm>
          <a:prstGeom prst="arc">
            <a:avLst/>
          </a:prstGeom>
          <a:noFill/>
          <a:ln w="13970">
            <a:solidFill>
              <a:srgbClr val="0C3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498079" y="201168"/>
            <a:ext cx="4297680" cy="1920240"/>
          </a:xfrm>
          <a:prstGeom prst="arc">
            <a:avLst/>
          </a:prstGeom>
          <a:noFill/>
          <a:ln w="13970">
            <a:solidFill>
              <a:srgbClr val="0E4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7589520" y="233172"/>
            <a:ext cx="4297680" cy="1920240"/>
          </a:xfrm>
          <a:prstGeom prst="arc">
            <a:avLst/>
          </a:prstGeom>
          <a:noFill/>
          <a:ln w="13970">
            <a:solidFill>
              <a:srgbClr val="10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7680960" y="265176"/>
            <a:ext cx="4297680" cy="1920240"/>
          </a:xfrm>
          <a:prstGeom prst="arc">
            <a:avLst/>
          </a:prstGeom>
          <a:noFill/>
          <a:ln w="13970">
            <a:solidFill>
              <a:srgbClr val="124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7772400" y="297180"/>
            <a:ext cx="4297680" cy="1920240"/>
          </a:xfrm>
          <a:prstGeom prst="arc">
            <a:avLst/>
          </a:prstGeom>
          <a:noFill/>
          <a:ln w="13970">
            <a:solidFill>
              <a:srgbClr val="144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7863840" y="329184"/>
            <a:ext cx="4297680" cy="1920240"/>
          </a:xfrm>
          <a:prstGeom prst="arc">
            <a:avLst/>
          </a:prstGeom>
          <a:noFill/>
          <a:ln w="13970">
            <a:solidFill>
              <a:srgbClr val="165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7955279" y="361188"/>
            <a:ext cx="4297680" cy="1920240"/>
          </a:xfrm>
          <a:prstGeom prst="arc">
            <a:avLst/>
          </a:prstGeom>
          <a:noFill/>
          <a:ln w="13970">
            <a:solidFill>
              <a:srgbClr val="185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384048"/>
            <a:ext cx="64008" cy="530352"/>
          </a:xfrm>
          <a:prstGeom prst="rect">
            <a:avLst/>
          </a:prstGeom>
          <a:solidFill>
            <a:srgbClr val="5C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9CCCF"/>
                </a:solidFill>
                <a:latin typeface="Aptos"/>
              </a:defRPr>
            </a:pPr>
            <a:r>
              <a:t>INSIGHTS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9184"/>
            <a:ext cx="109728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500" b="1">
                <a:solidFill>
                  <a:srgbClr val="F4F9FA"/>
                </a:solidFill>
                <a:latin typeface="Aptos"/>
              </a:defRPr>
            </a:pPr>
            <a:r>
              <a:t>Customer Since by Country — Share of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886968"/>
            <a:ext cx="98755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31BEA6"/>
                </a:solidFill>
                <a:latin typeface="Aptos"/>
              </a:defRPr>
            </a:pPr>
            <a:r>
              <a:t>CHART 05 • COUNTRY DISTRIBUTION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1417320"/>
            <a:ext cx="5806440" cy="4773168"/>
          </a:xfrm>
          <a:prstGeom prst="roundRect">
            <a:avLst/>
          </a:prstGeom>
          <a:solidFill>
            <a:srgbClr val="091C1F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609344"/>
            <a:ext cx="53035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B9CCCF"/>
                </a:solidFill>
                <a:latin typeface="Aptos"/>
              </a:defRPr>
            </a:pPr>
            <a:r>
              <a:t>DASHBOARD VISUAL</a:t>
            </a:r>
          </a:p>
        </p:txBody>
      </p:sp>
      <p:pic>
        <p:nvPicPr>
          <p:cNvPr id="17" name="Picture 16" descr="customers_by_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74" y="1965960"/>
            <a:ext cx="5203722" cy="3977639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01968" y="1417320"/>
            <a:ext cx="5074920" cy="4773168"/>
          </a:xfrm>
          <a:prstGeom prst="roundRect">
            <a:avLst/>
          </a:prstGeom>
          <a:solidFill>
            <a:srgbClr val="0E272B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664208"/>
            <a:ext cx="44805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31BEA6"/>
                </a:solidFill>
                <a:latin typeface="Aptos"/>
              </a:defRPr>
            </a:pPr>
            <a:r>
              <a:t>WHAT THIS VISUAL TELLS US</a:t>
            </a:r>
          </a:p>
        </p:txBody>
      </p:sp>
      <p:sp>
        <p:nvSpPr>
          <p:cNvPr id="20" name="Oval 19"/>
          <p:cNvSpPr/>
          <p:nvPr/>
        </p:nvSpPr>
        <p:spPr>
          <a:xfrm>
            <a:off x="6931152" y="2295144"/>
            <a:ext cx="91440" cy="91440"/>
          </a:xfrm>
          <a:prstGeom prst="ellipse">
            <a:avLst/>
          </a:prstGeom>
          <a:solidFill>
            <a:srgbClr val="FFC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2212848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The pie chart compares the displayed Customer Since measure across countries.</a:t>
            </a:r>
          </a:p>
        </p:txBody>
      </p:sp>
      <p:sp>
        <p:nvSpPr>
          <p:cNvPr id="22" name="Oval 21"/>
          <p:cNvSpPr/>
          <p:nvPr/>
        </p:nvSpPr>
        <p:spPr>
          <a:xfrm>
            <a:off x="6931152" y="3044951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2962656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Turkey, Hong Kong and India are among the labelled country categories.</a:t>
            </a:r>
          </a:p>
        </p:txBody>
      </p:sp>
      <p:sp>
        <p:nvSpPr>
          <p:cNvPr id="24" name="Oval 23"/>
          <p:cNvSpPr/>
          <p:nvPr/>
        </p:nvSpPr>
        <p:spPr>
          <a:xfrm>
            <a:off x="6931152" y="3794759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3712463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Several slices have similar sizes, suggesting the distribution spans multiple countries.</a:t>
            </a:r>
          </a:p>
        </p:txBody>
      </p:sp>
      <p:sp>
        <p:nvSpPr>
          <p:cNvPr id="26" name="Oval 25"/>
          <p:cNvSpPr/>
          <p:nvPr/>
        </p:nvSpPr>
        <p:spPr>
          <a:xfrm>
            <a:off x="6931152" y="4544568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4462272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Check the title and measure: Customer Since may not be suitable to sum by country.</a:t>
            </a:r>
          </a:p>
        </p:txBody>
      </p:sp>
      <p:sp>
        <p:nvSpPr>
          <p:cNvPr id="28" name="Oval 27"/>
          <p:cNvSpPr/>
          <p:nvPr/>
        </p:nvSpPr>
        <p:spPr>
          <a:xfrm>
            <a:off x="6931152" y="5294376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5212080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A distinct customer count by country would usually be easier to interpret.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281928"/>
            <a:ext cx="10149840" cy="320040"/>
          </a:xfrm>
          <a:prstGeom prst="roundRect">
            <a:avLst/>
          </a:prstGeom>
          <a:solidFill>
            <a:srgbClr val="103839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00216"/>
            <a:ext cx="9784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4F9FA"/>
                </a:solidFill>
                <a:latin typeface="Aptos"/>
              </a:defRPr>
            </a:pPr>
            <a:r>
              <a:t>KEY TAKEAWAY  •  Country shares are visible, but confirm the metric before interpreting them.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7315200" y="137160"/>
            <a:ext cx="4297680" cy="1920240"/>
          </a:xfrm>
          <a:prstGeom prst="arc">
            <a:avLst/>
          </a:prstGeom>
          <a:noFill/>
          <a:ln w="13970">
            <a:solidFill>
              <a:srgbClr val="0A3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406640" y="169164"/>
            <a:ext cx="4297680" cy="1920240"/>
          </a:xfrm>
          <a:prstGeom prst="arc">
            <a:avLst/>
          </a:prstGeom>
          <a:noFill/>
          <a:ln w="13970">
            <a:solidFill>
              <a:srgbClr val="0C3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498079" y="201168"/>
            <a:ext cx="4297680" cy="1920240"/>
          </a:xfrm>
          <a:prstGeom prst="arc">
            <a:avLst/>
          </a:prstGeom>
          <a:noFill/>
          <a:ln w="13970">
            <a:solidFill>
              <a:srgbClr val="0E4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7589520" y="233172"/>
            <a:ext cx="4297680" cy="1920240"/>
          </a:xfrm>
          <a:prstGeom prst="arc">
            <a:avLst/>
          </a:prstGeom>
          <a:noFill/>
          <a:ln w="13970">
            <a:solidFill>
              <a:srgbClr val="10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7680960" y="265176"/>
            <a:ext cx="4297680" cy="1920240"/>
          </a:xfrm>
          <a:prstGeom prst="arc">
            <a:avLst/>
          </a:prstGeom>
          <a:noFill/>
          <a:ln w="13970">
            <a:solidFill>
              <a:srgbClr val="124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7772400" y="297180"/>
            <a:ext cx="4297680" cy="1920240"/>
          </a:xfrm>
          <a:prstGeom prst="arc">
            <a:avLst/>
          </a:prstGeom>
          <a:noFill/>
          <a:ln w="13970">
            <a:solidFill>
              <a:srgbClr val="144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7863840" y="329184"/>
            <a:ext cx="4297680" cy="1920240"/>
          </a:xfrm>
          <a:prstGeom prst="arc">
            <a:avLst/>
          </a:prstGeom>
          <a:noFill/>
          <a:ln w="13970">
            <a:solidFill>
              <a:srgbClr val="165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7955279" y="361188"/>
            <a:ext cx="4297680" cy="1920240"/>
          </a:xfrm>
          <a:prstGeom prst="arc">
            <a:avLst/>
          </a:prstGeom>
          <a:noFill/>
          <a:ln w="13970">
            <a:solidFill>
              <a:srgbClr val="185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384048"/>
            <a:ext cx="64008" cy="530352"/>
          </a:xfrm>
          <a:prstGeom prst="rect">
            <a:avLst/>
          </a:prstGeom>
          <a:solidFill>
            <a:srgbClr val="5C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9CCCF"/>
                </a:solidFill>
                <a:latin typeface="Aptos"/>
              </a:defRPr>
            </a:pPr>
            <a:r>
              <a:t>INSIGHTS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9184"/>
            <a:ext cx="109728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500" b="1">
                <a:solidFill>
                  <a:srgbClr val="F4F9FA"/>
                </a:solidFill>
                <a:latin typeface="Aptos"/>
              </a:defRPr>
            </a:pPr>
            <a:r>
              <a:t>Index by Industry — Trend Across 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886968"/>
            <a:ext cx="98755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31BEA6"/>
                </a:solidFill>
                <a:latin typeface="Aptos"/>
              </a:defRPr>
            </a:pPr>
            <a:r>
              <a:t>CHART 06 • INDUSTRY LINE CHART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1417320"/>
            <a:ext cx="5806440" cy="4773168"/>
          </a:xfrm>
          <a:prstGeom prst="roundRect">
            <a:avLst/>
          </a:prstGeom>
          <a:solidFill>
            <a:srgbClr val="091C1F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609344"/>
            <a:ext cx="53035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B9CCCF"/>
                </a:solidFill>
                <a:latin typeface="Aptos"/>
              </a:defRPr>
            </a:pPr>
            <a:r>
              <a:t>DASHBOARD VISUAL</a:t>
            </a:r>
          </a:p>
        </p:txBody>
      </p:sp>
      <p:pic>
        <p:nvPicPr>
          <p:cNvPr id="17" name="Picture 16" descr="index_by_indu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797286"/>
            <a:ext cx="5321808" cy="231498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01968" y="1417320"/>
            <a:ext cx="5074920" cy="4773168"/>
          </a:xfrm>
          <a:prstGeom prst="roundRect">
            <a:avLst/>
          </a:prstGeom>
          <a:solidFill>
            <a:srgbClr val="0E272B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664208"/>
            <a:ext cx="44805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31BEA6"/>
                </a:solidFill>
                <a:latin typeface="Aptos"/>
              </a:defRPr>
            </a:pPr>
            <a:r>
              <a:t>WHAT THIS VISUAL TELLS US</a:t>
            </a:r>
          </a:p>
        </p:txBody>
      </p:sp>
      <p:sp>
        <p:nvSpPr>
          <p:cNvPr id="20" name="Oval 19"/>
          <p:cNvSpPr/>
          <p:nvPr/>
        </p:nvSpPr>
        <p:spPr>
          <a:xfrm>
            <a:off x="6931152" y="2295144"/>
            <a:ext cx="91440" cy="91440"/>
          </a:xfrm>
          <a:prstGeom prst="ellipse">
            <a:avLst/>
          </a:prstGeom>
          <a:solidFill>
            <a:srgbClr val="FFC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2212848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The line slopes downward overall across the industry categories shown.</a:t>
            </a:r>
          </a:p>
        </p:txBody>
      </p:sp>
      <p:sp>
        <p:nvSpPr>
          <p:cNvPr id="22" name="Oval 21"/>
          <p:cNvSpPr/>
          <p:nvPr/>
        </p:nvSpPr>
        <p:spPr>
          <a:xfrm>
            <a:off x="6931152" y="3044951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2962656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The highest displayed index is at the left side, followed by a general decline.</a:t>
            </a:r>
          </a:p>
        </p:txBody>
      </p:sp>
      <p:sp>
        <p:nvSpPr>
          <p:cNvPr id="24" name="Oval 23"/>
          <p:cNvSpPr/>
          <p:nvPr/>
        </p:nvSpPr>
        <p:spPr>
          <a:xfrm>
            <a:off x="6931152" y="3794759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3712463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Industry labels are truncated, limiting precise identification of every category.</a:t>
            </a:r>
          </a:p>
        </p:txBody>
      </p:sp>
      <p:sp>
        <p:nvSpPr>
          <p:cNvPr id="26" name="Oval 25"/>
          <p:cNvSpPr/>
          <p:nvPr/>
        </p:nvSpPr>
        <p:spPr>
          <a:xfrm>
            <a:off x="6931152" y="4544568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4462272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A line chart implies continuity; a sorted bar chart may be clearer for independent categories.</a:t>
            </a:r>
          </a:p>
        </p:txBody>
      </p:sp>
      <p:sp>
        <p:nvSpPr>
          <p:cNvPr id="28" name="Oval 27"/>
          <p:cNvSpPr/>
          <p:nvPr/>
        </p:nvSpPr>
        <p:spPr>
          <a:xfrm>
            <a:off x="6931152" y="5294376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5212080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Use full labels and a documented sort order for reliable comparisons.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281928"/>
            <a:ext cx="10149840" cy="320040"/>
          </a:xfrm>
          <a:prstGeom prst="roundRect">
            <a:avLst/>
          </a:prstGeom>
          <a:solidFill>
            <a:srgbClr val="103839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00216"/>
            <a:ext cx="9784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4F9FA"/>
                </a:solidFill>
                <a:latin typeface="Aptos"/>
              </a:defRPr>
            </a:pPr>
            <a:r>
              <a:t>KEY TAKEAWAY  •  The index decreases across the displayed sequence; a sorted bar chart may be clearer.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7315200" y="137160"/>
            <a:ext cx="4297680" cy="1920240"/>
          </a:xfrm>
          <a:prstGeom prst="arc">
            <a:avLst/>
          </a:prstGeom>
          <a:noFill/>
          <a:ln w="13970">
            <a:solidFill>
              <a:srgbClr val="0A3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406640" y="169164"/>
            <a:ext cx="4297680" cy="1920240"/>
          </a:xfrm>
          <a:prstGeom prst="arc">
            <a:avLst/>
          </a:prstGeom>
          <a:noFill/>
          <a:ln w="13970">
            <a:solidFill>
              <a:srgbClr val="0C3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498079" y="201168"/>
            <a:ext cx="4297680" cy="1920240"/>
          </a:xfrm>
          <a:prstGeom prst="arc">
            <a:avLst/>
          </a:prstGeom>
          <a:noFill/>
          <a:ln w="13970">
            <a:solidFill>
              <a:srgbClr val="0E4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7589520" y="233172"/>
            <a:ext cx="4297680" cy="1920240"/>
          </a:xfrm>
          <a:prstGeom prst="arc">
            <a:avLst/>
          </a:prstGeom>
          <a:noFill/>
          <a:ln w="13970">
            <a:solidFill>
              <a:srgbClr val="10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7680960" y="265176"/>
            <a:ext cx="4297680" cy="1920240"/>
          </a:xfrm>
          <a:prstGeom prst="arc">
            <a:avLst/>
          </a:prstGeom>
          <a:noFill/>
          <a:ln w="13970">
            <a:solidFill>
              <a:srgbClr val="124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7772400" y="297180"/>
            <a:ext cx="4297680" cy="1920240"/>
          </a:xfrm>
          <a:prstGeom prst="arc">
            <a:avLst/>
          </a:prstGeom>
          <a:noFill/>
          <a:ln w="13970">
            <a:solidFill>
              <a:srgbClr val="144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7863840" y="329184"/>
            <a:ext cx="4297680" cy="1920240"/>
          </a:xfrm>
          <a:prstGeom prst="arc">
            <a:avLst/>
          </a:prstGeom>
          <a:noFill/>
          <a:ln w="13970">
            <a:solidFill>
              <a:srgbClr val="165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7955279" y="361188"/>
            <a:ext cx="4297680" cy="1920240"/>
          </a:xfrm>
          <a:prstGeom prst="arc">
            <a:avLst/>
          </a:prstGeom>
          <a:noFill/>
          <a:ln w="13970">
            <a:solidFill>
              <a:srgbClr val="185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384048"/>
            <a:ext cx="64008" cy="530352"/>
          </a:xfrm>
          <a:prstGeom prst="rect">
            <a:avLst/>
          </a:prstGeom>
          <a:solidFill>
            <a:srgbClr val="5C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9CCCF"/>
                </a:solidFill>
                <a:latin typeface="Aptos"/>
              </a:defRPr>
            </a:pPr>
            <a:r>
              <a:t>INSIGHTS /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9184"/>
            <a:ext cx="109728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500" b="1">
                <a:solidFill>
                  <a:srgbClr val="F4F9FA"/>
                </a:solidFill>
                <a:latin typeface="Aptos"/>
              </a:defRPr>
            </a:pPr>
            <a:r>
              <a:t>Account Manager — Revenue &amp; Employee Measures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886968"/>
            <a:ext cx="98755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31BEA6"/>
                </a:solidFill>
                <a:latin typeface="Aptos"/>
              </a:defRPr>
            </a:pPr>
            <a:r>
              <a:t>CHART 07 • DUAL-SERIES LINE CHART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1417320"/>
            <a:ext cx="5806440" cy="4773168"/>
          </a:xfrm>
          <a:prstGeom prst="roundRect">
            <a:avLst/>
          </a:prstGeom>
          <a:solidFill>
            <a:srgbClr val="091C1F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609344"/>
            <a:ext cx="53035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B9CCCF"/>
                </a:solidFill>
                <a:latin typeface="Aptos"/>
              </a:defRPr>
            </a:pPr>
            <a:r>
              <a:t>DASHBOARD VISUAL</a:t>
            </a:r>
          </a:p>
        </p:txBody>
      </p:sp>
      <p:pic>
        <p:nvPicPr>
          <p:cNvPr id="17" name="Picture 16" descr="revenue_employees_by_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668676"/>
            <a:ext cx="5321808" cy="257220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01968" y="1417320"/>
            <a:ext cx="5074920" cy="4773168"/>
          </a:xfrm>
          <a:prstGeom prst="roundRect">
            <a:avLst/>
          </a:prstGeom>
          <a:solidFill>
            <a:srgbClr val="0E272B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664208"/>
            <a:ext cx="44805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31BEA6"/>
                </a:solidFill>
                <a:latin typeface="Aptos"/>
              </a:defRPr>
            </a:pPr>
            <a:r>
              <a:t>WHAT THIS VISUAL TELLS US</a:t>
            </a:r>
          </a:p>
        </p:txBody>
      </p:sp>
      <p:sp>
        <p:nvSpPr>
          <p:cNvPr id="20" name="Oval 19"/>
          <p:cNvSpPr/>
          <p:nvPr/>
        </p:nvSpPr>
        <p:spPr>
          <a:xfrm>
            <a:off x="6931152" y="2295144"/>
            <a:ext cx="91440" cy="91440"/>
          </a:xfrm>
          <a:prstGeom prst="ellipse">
            <a:avLst/>
          </a:prstGeom>
          <a:solidFill>
            <a:srgbClr val="FFC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2212848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Two series show annual revenue and number of employees across account managers.</a:t>
            </a:r>
          </a:p>
        </p:txBody>
      </p:sp>
      <p:sp>
        <p:nvSpPr>
          <p:cNvPr id="22" name="Oval 21"/>
          <p:cNvSpPr/>
          <p:nvPr/>
        </p:nvSpPr>
        <p:spPr>
          <a:xfrm>
            <a:off x="6931152" y="3044951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2962656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Values vary by manager, with visible peaks and dips across the sequence.</a:t>
            </a:r>
          </a:p>
        </p:txBody>
      </p:sp>
      <p:sp>
        <p:nvSpPr>
          <p:cNvPr id="24" name="Oval 23"/>
          <p:cNvSpPr/>
          <p:nvPr/>
        </p:nvSpPr>
        <p:spPr>
          <a:xfrm>
            <a:off x="6931152" y="3794759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3712463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The chart is dense and manager labels are rotated or truncated.</a:t>
            </a:r>
          </a:p>
        </p:txBody>
      </p:sp>
      <p:sp>
        <p:nvSpPr>
          <p:cNvPr id="26" name="Oval 25"/>
          <p:cNvSpPr/>
          <p:nvPr/>
        </p:nvSpPr>
        <p:spPr>
          <a:xfrm>
            <a:off x="6931152" y="4544568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4462272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Revenue and employee totals may use different scales; verify axis treatment.</a:t>
            </a:r>
          </a:p>
        </p:txBody>
      </p:sp>
      <p:sp>
        <p:nvSpPr>
          <p:cNvPr id="28" name="Oval 27"/>
          <p:cNvSpPr/>
          <p:nvPr/>
        </p:nvSpPr>
        <p:spPr>
          <a:xfrm>
            <a:off x="6931152" y="5294376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5212080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Try a shorter manager list, ranked bar chart or drill-through for detailed comparisons.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281928"/>
            <a:ext cx="10149840" cy="320040"/>
          </a:xfrm>
          <a:prstGeom prst="roundRect">
            <a:avLst/>
          </a:prstGeom>
          <a:solidFill>
            <a:srgbClr val="103839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00216"/>
            <a:ext cx="9784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4F9FA"/>
                </a:solidFill>
                <a:latin typeface="Aptos"/>
              </a:defRPr>
            </a:pPr>
            <a:r>
              <a:t>KEY TAKEAWAY  •  Manager-level variation is visible, but readability and scale alignment need review.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7315200" y="137160"/>
            <a:ext cx="4297680" cy="1920240"/>
          </a:xfrm>
          <a:prstGeom prst="arc">
            <a:avLst/>
          </a:prstGeom>
          <a:noFill/>
          <a:ln w="13970">
            <a:solidFill>
              <a:srgbClr val="0A3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406640" y="169164"/>
            <a:ext cx="4297680" cy="1920240"/>
          </a:xfrm>
          <a:prstGeom prst="arc">
            <a:avLst/>
          </a:prstGeom>
          <a:noFill/>
          <a:ln w="13970">
            <a:solidFill>
              <a:srgbClr val="0C3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498079" y="201168"/>
            <a:ext cx="4297680" cy="1920240"/>
          </a:xfrm>
          <a:prstGeom prst="arc">
            <a:avLst/>
          </a:prstGeom>
          <a:noFill/>
          <a:ln w="13970">
            <a:solidFill>
              <a:srgbClr val="0E4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7589520" y="233172"/>
            <a:ext cx="4297680" cy="1920240"/>
          </a:xfrm>
          <a:prstGeom prst="arc">
            <a:avLst/>
          </a:prstGeom>
          <a:noFill/>
          <a:ln w="13970">
            <a:solidFill>
              <a:srgbClr val="10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7680960" y="265176"/>
            <a:ext cx="4297680" cy="1920240"/>
          </a:xfrm>
          <a:prstGeom prst="arc">
            <a:avLst/>
          </a:prstGeom>
          <a:noFill/>
          <a:ln w="13970">
            <a:solidFill>
              <a:srgbClr val="124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7772400" y="297180"/>
            <a:ext cx="4297680" cy="1920240"/>
          </a:xfrm>
          <a:prstGeom prst="arc">
            <a:avLst/>
          </a:prstGeom>
          <a:noFill/>
          <a:ln w="13970">
            <a:solidFill>
              <a:srgbClr val="144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7863840" y="329184"/>
            <a:ext cx="4297680" cy="1920240"/>
          </a:xfrm>
          <a:prstGeom prst="arc">
            <a:avLst/>
          </a:prstGeom>
          <a:noFill/>
          <a:ln w="13970">
            <a:solidFill>
              <a:srgbClr val="165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7955279" y="361188"/>
            <a:ext cx="4297680" cy="1920240"/>
          </a:xfrm>
          <a:prstGeom prst="arc">
            <a:avLst/>
          </a:prstGeom>
          <a:noFill/>
          <a:ln w="13970">
            <a:solidFill>
              <a:srgbClr val="185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384048"/>
            <a:ext cx="64008" cy="530352"/>
          </a:xfrm>
          <a:prstGeom prst="rect">
            <a:avLst/>
          </a:prstGeom>
          <a:solidFill>
            <a:srgbClr val="5C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9CCCF"/>
                </a:solidFill>
                <a:latin typeface="Aptos"/>
              </a:defRPr>
            </a:pPr>
            <a:r>
              <a:t>INSIGHTS /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9184"/>
            <a:ext cx="109728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500" b="1">
                <a:solidFill>
                  <a:srgbClr val="F4F9FA"/>
                </a:solidFill>
                <a:latin typeface="Aptos"/>
              </a:defRPr>
            </a:pPr>
            <a:r>
              <a:t>Annual Revenue by City — Donut Breakdown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886968"/>
            <a:ext cx="98755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31BEA6"/>
                </a:solidFill>
                <a:latin typeface="Aptos"/>
              </a:defRPr>
            </a:pPr>
            <a:r>
              <a:t>CHART 08 • CITY CONTRIBUTION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1417320"/>
            <a:ext cx="5806440" cy="4773168"/>
          </a:xfrm>
          <a:prstGeom prst="roundRect">
            <a:avLst/>
          </a:prstGeom>
          <a:solidFill>
            <a:srgbClr val="091C1F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609344"/>
            <a:ext cx="53035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B9CCCF"/>
                </a:solidFill>
                <a:latin typeface="Aptos"/>
              </a:defRPr>
            </a:pPr>
            <a:r>
              <a:t>DASHBOARD VISUAL</a:t>
            </a:r>
          </a:p>
        </p:txBody>
      </p:sp>
      <p:pic>
        <p:nvPicPr>
          <p:cNvPr id="17" name="Picture 16" descr="revenue_by_city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052051"/>
            <a:ext cx="5321808" cy="380545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01968" y="1417320"/>
            <a:ext cx="5074920" cy="4773168"/>
          </a:xfrm>
          <a:prstGeom prst="roundRect">
            <a:avLst/>
          </a:prstGeom>
          <a:solidFill>
            <a:srgbClr val="0E272B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664208"/>
            <a:ext cx="44805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31BEA6"/>
                </a:solidFill>
                <a:latin typeface="Aptos"/>
              </a:defRPr>
            </a:pPr>
            <a:r>
              <a:t>WHAT THIS VISUAL TELLS US</a:t>
            </a:r>
          </a:p>
        </p:txBody>
      </p:sp>
      <p:sp>
        <p:nvSpPr>
          <p:cNvPr id="20" name="Oval 19"/>
          <p:cNvSpPr/>
          <p:nvPr/>
        </p:nvSpPr>
        <p:spPr>
          <a:xfrm>
            <a:off x="6931152" y="2295144"/>
            <a:ext cx="91440" cy="91440"/>
          </a:xfrm>
          <a:prstGeom prst="ellipse">
            <a:avLst/>
          </a:prstGeom>
          <a:solidFill>
            <a:srgbClr val="FFC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2212848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The donut presents city-level revenue contributions, with multiple cities represented.</a:t>
            </a:r>
          </a:p>
        </p:txBody>
      </p:sp>
      <p:sp>
        <p:nvSpPr>
          <p:cNvPr id="22" name="Oval 21"/>
          <p:cNvSpPr/>
          <p:nvPr/>
        </p:nvSpPr>
        <p:spPr>
          <a:xfrm>
            <a:off x="6931152" y="3044951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2962656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The largest visible labelled segment is around 883 (16.76%), followed by 820 (about 15%).</a:t>
            </a:r>
          </a:p>
        </p:txBody>
      </p:sp>
      <p:sp>
        <p:nvSpPr>
          <p:cNvPr id="24" name="Oval 23"/>
          <p:cNvSpPr/>
          <p:nvPr/>
        </p:nvSpPr>
        <p:spPr>
          <a:xfrm>
            <a:off x="6931152" y="3794759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3712463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The ring layout emphasizes share of the whole rather than precise comparisons.</a:t>
            </a:r>
          </a:p>
        </p:txBody>
      </p:sp>
      <p:sp>
        <p:nvSpPr>
          <p:cNvPr id="26" name="Oval 25"/>
          <p:cNvSpPr/>
          <p:nvPr/>
        </p:nvSpPr>
        <p:spPr>
          <a:xfrm>
            <a:off x="6931152" y="4544568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4462272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Several city names appear in the legend, while smaller labels can be difficult to read.</a:t>
            </a:r>
          </a:p>
        </p:txBody>
      </p:sp>
      <p:sp>
        <p:nvSpPr>
          <p:cNvPr id="28" name="Oval 27"/>
          <p:cNvSpPr/>
          <p:nvPr/>
        </p:nvSpPr>
        <p:spPr>
          <a:xfrm>
            <a:off x="6931152" y="5294376"/>
            <a:ext cx="91440" cy="91440"/>
          </a:xfrm>
          <a:prstGeom prst="ellipse">
            <a:avLst/>
          </a:prstGeom>
          <a:solidFill>
            <a:srgbClr val="31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5212080"/>
            <a:ext cx="4160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F4F9FA"/>
                </a:solidFill>
                <a:latin typeface="Aptos"/>
              </a:defRPr>
            </a:pPr>
            <a:r>
              <a:t>Use a sorted bar chart when stakeholders need exact city-to-city ranking.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281928"/>
            <a:ext cx="10149840" cy="320040"/>
          </a:xfrm>
          <a:prstGeom prst="roundRect">
            <a:avLst/>
          </a:prstGeom>
          <a:solidFill>
            <a:srgbClr val="103839"/>
          </a:solidFill>
          <a:ln w="12700">
            <a:solidFill>
              <a:srgbClr val="375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00216"/>
            <a:ext cx="9784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4F9FA"/>
                </a:solidFill>
                <a:latin typeface="Aptos"/>
              </a:defRPr>
            </a:pPr>
            <a:r>
              <a:t>KEY TAKEAWAY  •  City contributions span several locations; a ranked bar chart improves precision.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